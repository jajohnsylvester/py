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28"/>
  </p:notesMasterIdLst>
  <p:handoutMasterIdLst>
    <p:handoutMasterId r:id="rId29"/>
  </p:handoutMasterIdLst>
  <p:sldIdLst>
    <p:sldId id="336" r:id="rId5"/>
    <p:sldId id="330" r:id="rId6"/>
    <p:sldId id="332" r:id="rId7"/>
    <p:sldId id="337" r:id="rId8"/>
    <p:sldId id="340" r:id="rId9"/>
    <p:sldId id="339" r:id="rId10"/>
    <p:sldId id="341" r:id="rId11"/>
    <p:sldId id="348" r:id="rId12"/>
    <p:sldId id="334" r:id="rId13"/>
    <p:sldId id="342" r:id="rId14"/>
    <p:sldId id="343" r:id="rId15"/>
    <p:sldId id="344" r:id="rId16"/>
    <p:sldId id="345" r:id="rId17"/>
    <p:sldId id="346" r:id="rId18"/>
    <p:sldId id="347" r:id="rId19"/>
    <p:sldId id="335" r:id="rId20"/>
    <p:sldId id="350" r:id="rId21"/>
    <p:sldId id="351" r:id="rId22"/>
    <p:sldId id="352" r:id="rId23"/>
    <p:sldId id="353" r:id="rId24"/>
    <p:sldId id="354" r:id="rId25"/>
    <p:sldId id="274" r:id="rId26"/>
    <p:sldId id="275" r:id="rId27"/>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1590AA-02B3-4ADE-F57B-86D5AB206163}" name="Jarrod Renfro" initials="JR" userId="Jarrod Renfro"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1619"/>
    <a:srgbClr val="F2F4F8"/>
    <a:srgbClr val="0948CB"/>
    <a:srgbClr val="0B49CB"/>
    <a:srgbClr val="1C7DDB"/>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389"/>
    <p:restoredTop sz="85169"/>
  </p:normalViewPr>
  <p:slideViewPr>
    <p:cSldViewPr snapToGrid="0" snapToObjects="1">
      <p:cViewPr varScale="1">
        <p:scale>
          <a:sx n="70" d="100"/>
          <a:sy n="70" d="100"/>
        </p:scale>
        <p:origin x="1589" y="62"/>
      </p:cViewPr>
      <p:guideLst>
        <p:guide orient="horz" pos="218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8/10/relationships/authors" Target="author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1/20/2026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2418124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23</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1/20/2026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1/20/2026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1/20/2026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1/20/2026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1/20/2026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1/20/2026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1/20/2026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1/20/2026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1/20/2026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1/20/2026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BCBB462-34C3-D144-9620-F611A0964A6F}"/>
              </a:ext>
            </a:extLst>
          </p:cNvPr>
          <p:cNvGrpSpPr/>
          <p:nvPr/>
        </p:nvGrpSpPr>
        <p:grpSpPr>
          <a:xfrm>
            <a:off x="5871412" y="3820167"/>
            <a:ext cx="6118575" cy="2838753"/>
            <a:chOff x="5136802" y="3703860"/>
            <a:chExt cx="6118575" cy="2838753"/>
          </a:xfrm>
        </p:grpSpPr>
        <p:pic>
          <p:nvPicPr>
            <p:cNvPr id="4" name="Picture 3">
              <a:extLst>
                <a:ext uri="{FF2B5EF4-FFF2-40B4-BE49-F238E27FC236}">
                  <a16:creationId xmlns:a16="http://schemas.microsoft.com/office/drawing/2014/main" id="{522F046B-F6EE-4E47-8C57-F6A6A097D297}"/>
                </a:ext>
              </a:extLst>
            </p:cNvPr>
            <p:cNvPicPr>
              <a:picLocks noChangeAspect="1"/>
            </p:cNvPicPr>
            <p:nvPr/>
          </p:nvPicPr>
          <p:blipFill>
            <a:blip r:embed="rId3"/>
            <a:stretch>
              <a:fillRect/>
            </a:stretch>
          </p:blipFill>
          <p:spPr>
            <a:xfrm>
              <a:off x="5136802" y="3703860"/>
              <a:ext cx="4612478" cy="2838753"/>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8" name="Straight Arrow Connector 7">
              <a:extLst>
                <a:ext uri="{FF2B5EF4-FFF2-40B4-BE49-F238E27FC236}">
                  <a16:creationId xmlns:a16="http://schemas.microsoft.com/office/drawing/2014/main" id="{284E1D9B-0FCE-1D41-A7A6-A153308B8FAB}"/>
                </a:ext>
              </a:extLst>
            </p:cNvPr>
            <p:cNvCxnSpPr>
              <a:cxnSpLocks/>
            </p:cNvCxnSpPr>
            <p:nvPr/>
          </p:nvCxnSpPr>
          <p:spPr>
            <a:xfrm>
              <a:off x="9872146" y="5166220"/>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6D164AC-71BC-794A-89DA-C74C9525C3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57954" y="4527982"/>
              <a:ext cx="497423" cy="514575"/>
            </a:xfrm>
            <a:prstGeom prst="rect">
              <a:avLst/>
            </a:prstGeom>
          </p:spPr>
        </p:pic>
      </p:grpSp>
      <p:sp>
        <p:nvSpPr>
          <p:cNvPr id="2" name="TextBox 1">
            <a:extLst>
              <a:ext uri="{FF2B5EF4-FFF2-40B4-BE49-F238E27FC236}">
                <a16:creationId xmlns:a16="http://schemas.microsoft.com/office/drawing/2014/main" id="{0B08AF69-4D62-3045-9FEF-6800D771C946}"/>
              </a:ext>
            </a:extLst>
          </p:cNvPr>
          <p:cNvSpPr txBox="1"/>
          <p:nvPr/>
        </p:nvSpPr>
        <p:spPr>
          <a:xfrm>
            <a:off x="1251284" y="2767280"/>
            <a:ext cx="10241280" cy="1323439"/>
          </a:xfrm>
          <a:prstGeom prst="rect">
            <a:avLst/>
          </a:prstGeom>
          <a:solidFill>
            <a:schemeClr val="bg1">
              <a:alpha val="86117"/>
            </a:schemeClr>
          </a:solidFill>
        </p:spPr>
        <p:txBody>
          <a:bodyPr wrap="square" rtlCol="0">
            <a:spAutoFit/>
          </a:bodyPr>
          <a:lstStyle/>
          <a:p>
            <a:r>
              <a:rPr lang="en-US" sz="4000" dirty="0">
                <a:latin typeface="Abadi" panose="020B0604020104020204" pitchFamily="34" charset="0"/>
              </a:rPr>
              <a:t>Build a Personalized Online Course Recommender System with Machine Learning</a:t>
            </a:r>
          </a:p>
        </p:txBody>
      </p:sp>
      <p:sp>
        <p:nvSpPr>
          <p:cNvPr id="3" name="TextBox 2">
            <a:extLst>
              <a:ext uri="{FF2B5EF4-FFF2-40B4-BE49-F238E27FC236}">
                <a16:creationId xmlns:a16="http://schemas.microsoft.com/office/drawing/2014/main" id="{68217B24-331B-5040-859E-22982B3A88DA}"/>
              </a:ext>
            </a:extLst>
          </p:cNvPr>
          <p:cNvSpPr txBox="1"/>
          <p:nvPr/>
        </p:nvSpPr>
        <p:spPr>
          <a:xfrm>
            <a:off x="1251284" y="4166431"/>
            <a:ext cx="2514600" cy="830997"/>
          </a:xfrm>
          <a:prstGeom prst="rect">
            <a:avLst/>
          </a:prstGeom>
          <a:noFill/>
        </p:spPr>
        <p:txBody>
          <a:bodyPr wrap="square" lIns="91440" tIns="45720" rIns="91440" bIns="45720" rtlCol="0" anchor="t">
            <a:spAutoFit/>
          </a:bodyPr>
          <a:lstStyle/>
          <a:p>
            <a:r>
              <a:rPr lang="en-US" sz="2400" dirty="0" err="1">
                <a:latin typeface="Abadi"/>
                <a:ea typeface="SF Pro" pitchFamily="2" charset="0"/>
                <a:cs typeface="SF Pro" pitchFamily="2" charset="0"/>
              </a:rPr>
              <a:t>Myname</a:t>
            </a:r>
            <a:endParaRPr lang="en-US" sz="2400" dirty="0">
              <a:latin typeface="Abadi"/>
              <a:ea typeface="SF Pro" pitchFamily="2" charset="0"/>
              <a:cs typeface="SF Pro" pitchFamily="2" charset="0"/>
            </a:endParaRPr>
          </a:p>
          <a:p>
            <a:r>
              <a:rPr lang="en-US" sz="2400" dirty="0">
                <a:latin typeface="Abadi" panose="020B0604020104020204" pitchFamily="34" charset="0"/>
                <a:ea typeface="SF Pro" pitchFamily="2" charset="0"/>
                <a:cs typeface="SF Pro" pitchFamily="2" charset="0"/>
              </a:rPr>
              <a:t>20 Jan 2026</a:t>
            </a:r>
          </a:p>
        </p:txBody>
      </p:sp>
      <p:cxnSp>
        <p:nvCxnSpPr>
          <p:cNvPr id="9" name="Straight Arrow Connector 8">
            <a:extLst>
              <a:ext uri="{FF2B5EF4-FFF2-40B4-BE49-F238E27FC236}">
                <a16:creationId xmlns:a16="http://schemas.microsoft.com/office/drawing/2014/main" id="{786D5268-B673-A742-9436-8948B1C5875A}"/>
              </a:ext>
            </a:extLst>
          </p:cNvPr>
          <p:cNvCxnSpPr>
            <a:cxnSpLocks/>
          </p:cNvCxnSpPr>
          <p:nvPr/>
        </p:nvCxnSpPr>
        <p:spPr>
          <a:xfrm>
            <a:off x="10606756" y="5517217"/>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622C788-5750-B448-9946-A3353F7249B8}"/>
              </a:ext>
            </a:extLst>
          </p:cNvPr>
          <p:cNvCxnSpPr>
            <a:cxnSpLocks/>
          </p:cNvCxnSpPr>
          <p:nvPr/>
        </p:nvCxnSpPr>
        <p:spPr>
          <a:xfrm>
            <a:off x="10606756" y="5035201"/>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B8BB15B-3863-C146-97D8-D3D09F989A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92564" y="5406189"/>
            <a:ext cx="497423" cy="514575"/>
          </a:xfrm>
          <a:prstGeom prst="rect">
            <a:avLst/>
          </a:prstGeom>
        </p:spPr>
      </p:pic>
    </p:spTree>
    <p:extLst>
      <p:ext uri="{BB962C8B-B14F-4D97-AF65-F5344CB8AC3E}">
        <p14:creationId xmlns:p14="http://schemas.microsoft.com/office/powerpoint/2010/main" val="2559186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10515600" cy="3320824"/>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000" dirty="0">
                <a:solidFill>
                  <a:schemeClr val="accent3">
                    <a:lumMod val="25000"/>
                  </a:schemeClr>
                </a:solidFill>
                <a:latin typeface="Abadi"/>
              </a:rPr>
              <a:t>Introduction and Background</a:t>
            </a:r>
          </a:p>
          <a:p>
            <a:pPr>
              <a:lnSpc>
                <a:spcPct val="100000"/>
              </a:lnSpc>
              <a:spcBef>
                <a:spcPts val="1400"/>
              </a:spcBef>
            </a:pPr>
            <a:r>
              <a:rPr lang="en-US" sz="2000" dirty="0">
                <a:solidFill>
                  <a:schemeClr val="accent3">
                    <a:lumMod val="25000"/>
                  </a:schemeClr>
                </a:solidFill>
                <a:latin typeface="Abadi"/>
              </a:rPr>
              <a:t>Exploratory Data Analysis</a:t>
            </a:r>
          </a:p>
          <a:p>
            <a:pPr>
              <a:lnSpc>
                <a:spcPct val="100000"/>
              </a:lnSpc>
              <a:spcBef>
                <a:spcPts val="1400"/>
              </a:spcBef>
            </a:pPr>
            <a:r>
              <a:rPr lang="en-US" sz="2000" dirty="0">
                <a:solidFill>
                  <a:schemeClr val="accent3">
                    <a:lumMod val="25000"/>
                  </a:schemeClr>
                </a:solidFill>
                <a:latin typeface="Abadi"/>
              </a:rPr>
              <a:t>Content-based Recommender System using Unsupervised Learning</a:t>
            </a:r>
          </a:p>
          <a:p>
            <a:pPr>
              <a:lnSpc>
                <a:spcPct val="100000"/>
              </a:lnSpc>
              <a:spcBef>
                <a:spcPts val="1400"/>
              </a:spcBef>
            </a:pPr>
            <a:r>
              <a:rPr lang="en-US" sz="2000" dirty="0">
                <a:solidFill>
                  <a:schemeClr val="accent3">
                    <a:lumMod val="25000"/>
                  </a:schemeClr>
                </a:solidFill>
                <a:latin typeface="Abadi"/>
              </a:rPr>
              <a:t>Collaborative-filtering based Recommender System using Supervised learning</a:t>
            </a:r>
          </a:p>
          <a:p>
            <a:pPr>
              <a:lnSpc>
                <a:spcPct val="100000"/>
              </a:lnSpc>
              <a:spcBef>
                <a:spcPts val="1400"/>
              </a:spcBef>
            </a:pPr>
            <a:r>
              <a:rPr lang="en-US" sz="2000" dirty="0">
                <a:solidFill>
                  <a:schemeClr val="accent3">
                    <a:lumMod val="25000"/>
                  </a:schemeClr>
                </a:solidFill>
                <a:latin typeface="Abadi"/>
              </a:rPr>
              <a:t>Conclusion</a:t>
            </a:r>
          </a:p>
          <a:p>
            <a:pPr>
              <a:lnSpc>
                <a:spcPct val="100000"/>
              </a:lnSpc>
              <a:spcBef>
                <a:spcPts val="1400"/>
              </a:spcBef>
            </a:pPr>
            <a:r>
              <a:rPr lang="en-US" sz="20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4300" dirty="0">
                <a:solidFill>
                  <a:srgbClr val="0B49CB"/>
                </a:solidFill>
                <a:latin typeface="Abadi"/>
              </a:rPr>
              <a:t>Outline</a:t>
            </a:r>
            <a:endParaRPr lang="en-US" dirty="0">
              <a:solidFill>
                <a:srgbClr val="0B49CB"/>
              </a:solidFill>
              <a:latin typeface="Abadi"/>
            </a:endParaRP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dirty="0">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896174" y="1395987"/>
            <a:ext cx="10264474" cy="526606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GB" sz="1200" b="1" dirty="0"/>
              <a:t>The Vision of the MOOC Startup</a:t>
            </a:r>
          </a:p>
          <a:p>
            <a:r>
              <a:rPr lang="en-GB" sz="1200" dirty="0"/>
              <a:t>A specialized Massive Open Online Courses (MOOCs) startup is dedicated to democratizing technical education by providing learners worldwide with access to industry-leading technologies. The project is designed to support a mission of rapid scaling, aiming to reach millions of users and expand the global footprint of the platform in a very short timeframe</a:t>
            </a:r>
          </a:p>
          <a:p>
            <a:pPr marL="0" indent="0">
              <a:buNone/>
            </a:pPr>
            <a:r>
              <a:rPr lang="en-GB" sz="1200" b="1" dirty="0"/>
              <a:t>Core Curriculum and Technical Focus</a:t>
            </a:r>
          </a:p>
          <a:p>
            <a:pPr marL="0" indent="0">
              <a:buNone/>
            </a:pPr>
            <a:r>
              <a:rPr lang="en-GB" sz="1200" dirty="0"/>
              <a:t>       The system's curriculum is strategically built around high-demand technical fields that are currently shaping the global economy</a:t>
            </a:r>
          </a:p>
          <a:p>
            <a:r>
              <a:rPr lang="en-GB" sz="1200" b="1" dirty="0"/>
              <a:t>Artificial Intelligence &amp; Machine Learning</a:t>
            </a:r>
            <a:r>
              <a:rPr lang="en-GB" sz="1200" dirty="0"/>
              <a:t>: Advanced </a:t>
            </a:r>
            <a:r>
              <a:rPr lang="en-GB" sz="1200" dirty="0" err="1"/>
              <a:t>modeling</a:t>
            </a:r>
            <a:r>
              <a:rPr lang="en-GB" sz="1200" dirty="0"/>
              <a:t> and predictive algorithms</a:t>
            </a:r>
          </a:p>
          <a:p>
            <a:r>
              <a:rPr lang="en-GB" sz="1200" b="1" dirty="0"/>
              <a:t>Data Science &amp; Big Data</a:t>
            </a:r>
            <a:r>
              <a:rPr lang="en-GB" sz="1200" dirty="0"/>
              <a:t>: Handling massive datasets and discovering actionable insights</a:t>
            </a:r>
          </a:p>
          <a:p>
            <a:r>
              <a:rPr lang="en-GB" sz="1200" b="1" dirty="0"/>
              <a:t>Cloud Computing</a:t>
            </a:r>
            <a:r>
              <a:rPr lang="en-GB" sz="1200" dirty="0"/>
              <a:t>: Modern infrastructure and deployment using platforms like IBM Cloud.</a:t>
            </a:r>
          </a:p>
          <a:p>
            <a:r>
              <a:rPr lang="en-GB" sz="1200" b="1" dirty="0"/>
              <a:t>Application Development</a:t>
            </a:r>
            <a:r>
              <a:rPr lang="en-GB" sz="1200" dirty="0"/>
              <a:t>: Building modern software solutions using microservices and containers</a:t>
            </a:r>
          </a:p>
          <a:p>
            <a:pPr marL="0" indent="0">
              <a:buNone/>
            </a:pPr>
            <a:r>
              <a:rPr lang="en-GB" sz="1200" b="1" dirty="0"/>
              <a:t>Primary Objectives and Problem Statement</a:t>
            </a:r>
          </a:p>
          <a:p>
            <a:pPr marL="0" indent="0">
              <a:buNone/>
            </a:pPr>
            <a:r>
              <a:rPr lang="en-GB" sz="1200" dirty="0"/>
              <a:t>       The central challenge is to transition from a generic course </a:t>
            </a:r>
            <a:r>
              <a:rPr lang="en-GB" sz="1200" dirty="0" err="1"/>
              <a:t>catalog</a:t>
            </a:r>
            <a:r>
              <a:rPr lang="en-GB" sz="1200" dirty="0"/>
              <a:t> to a personalized learning experience. The system addresses two critical goals:</a:t>
            </a:r>
          </a:p>
          <a:p>
            <a:r>
              <a:rPr lang="en-GB" sz="1200" b="1" dirty="0"/>
              <a:t>Predictive Accuracy</a:t>
            </a:r>
            <a:r>
              <a:rPr lang="en-GB" sz="1200" dirty="0"/>
              <a:t>: To accurately identify and predict which specific courses a learner will find valuable based on their unique history and profile</a:t>
            </a:r>
          </a:p>
          <a:p>
            <a:r>
              <a:rPr lang="en-GB" sz="1200" b="1" dirty="0"/>
              <a:t>Feedback and Validation</a:t>
            </a:r>
            <a:r>
              <a:rPr lang="en-GB" sz="1200" dirty="0"/>
              <a:t>: To establish a robust loop that understands and validates whether the recommendations provided are actually liked and utilized by the learner</a:t>
            </a:r>
          </a:p>
          <a:p>
            <a:pPr marL="0" indent="0">
              <a:buNone/>
            </a:pPr>
            <a:r>
              <a:rPr lang="en-GB" sz="1200" b="1" dirty="0"/>
              <a:t>Market Strategy: Rapid </a:t>
            </a:r>
            <a:r>
              <a:rPr lang="en-GB" sz="1200" b="1" dirty="0" err="1"/>
              <a:t>Enrollment</a:t>
            </a:r>
            <a:r>
              <a:rPr lang="en-GB" sz="1200" b="1" dirty="0"/>
              <a:t> Growth</a:t>
            </a:r>
          </a:p>
          <a:p>
            <a:r>
              <a:rPr lang="en-GB" sz="1200" dirty="0"/>
              <a:t>By implementing an automated recommender system, the startup seeks to increase </a:t>
            </a:r>
            <a:r>
              <a:rPr lang="en-GB" sz="1200" dirty="0" err="1"/>
              <a:t>enrollment</a:t>
            </a:r>
            <a:r>
              <a:rPr lang="en-GB" sz="1200" dirty="0"/>
              <a:t> by reducing the "search friction" learners face when navigating hundreds of courses. The ultimate goal is to foster a high-engagement ecosystem where learners are consistently presented with the right content at the right time in their career journey</a:t>
            </a:r>
          </a:p>
          <a:p>
            <a:endParaRPr lang="en-GB" sz="1200" dirty="0"/>
          </a:p>
          <a:p>
            <a:pPr marL="457200" lvl="1" indent="0">
              <a:lnSpc>
                <a:spcPct val="120000"/>
              </a:lnSpc>
              <a:spcBef>
                <a:spcPts val="1400"/>
              </a:spcBef>
              <a:buNone/>
            </a:pPr>
            <a:r>
              <a:rPr lang="en-GB" sz="1200" dirty="0">
                <a:solidFill>
                  <a:srgbClr val="121619"/>
                </a:solidFill>
              </a:rPr>
              <a:t>    </a:t>
            </a:r>
            <a:endParaRPr lang="en-US" sz="1200" dirty="0">
              <a:solidFill>
                <a:schemeClr val="accent3">
                  <a:lumMod val="25000"/>
                </a:schemeClr>
              </a:solidFill>
              <a:latin typeface="Abadi" panose="020B0604020104020204" pitchFamily="34" charset="0"/>
            </a:endParaRPr>
          </a:p>
        </p:txBody>
      </p:sp>
    </p:spTree>
    <p:extLst>
      <p:ext uri="{BB962C8B-B14F-4D97-AF65-F5344CB8AC3E}">
        <p14:creationId xmlns:p14="http://schemas.microsoft.com/office/powerpoint/2010/main" val="2560061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Exploratory Data Analysis</a:t>
            </a:r>
            <a:endParaRPr lang="en-US" dirty="0"/>
          </a:p>
        </p:txBody>
      </p:sp>
      <p:pic>
        <p:nvPicPr>
          <p:cNvPr id="36" name="Graphic 35">
            <a:extLst>
              <a:ext uri="{FF2B5EF4-FFF2-40B4-BE49-F238E27FC236}">
                <a16:creationId xmlns:a16="http://schemas.microsoft.com/office/drawing/2014/main" id="{693C86CF-B31B-4549-BA68-C5C2DB4748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33055" y="5553777"/>
            <a:ext cx="1028790" cy="1028790"/>
          </a:xfrm>
          <a:prstGeom prst="rect">
            <a:avLst/>
          </a:prstGeom>
        </p:spPr>
      </p:pic>
    </p:spTree>
    <p:extLst>
      <p:ext uri="{BB962C8B-B14F-4D97-AF65-F5344CB8AC3E}">
        <p14:creationId xmlns:p14="http://schemas.microsoft.com/office/powerpoint/2010/main" val="3608834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Course counts per genre</a:t>
            </a:r>
          </a:p>
        </p:txBody>
      </p:sp>
      <p:sp>
        <p:nvSpPr>
          <p:cNvPr id="8" name="Content Placeholder 4">
            <a:extLst>
              <a:ext uri="{FF2B5EF4-FFF2-40B4-BE49-F238E27FC236}">
                <a16:creationId xmlns:a16="http://schemas.microsoft.com/office/drawing/2014/main" id="{8653FA46-2212-42E4-9D89-321A9B15A6C2}"/>
              </a:ext>
            </a:extLst>
          </p:cNvPr>
          <p:cNvSpPr txBox="1">
            <a:spLocks/>
          </p:cNvSpPr>
          <p:nvPr/>
        </p:nvSpPr>
        <p:spPr>
          <a:xfrm>
            <a:off x="855663" y="1150031"/>
            <a:ext cx="10421937" cy="5342844"/>
          </a:xfrm>
          <a:prstGeom prst="rect">
            <a:avLst/>
          </a:prstGeom>
          <a:ln>
            <a:solidFill>
              <a:srgbClr val="0B49CB"/>
            </a:solidFill>
            <a:prstDash val="dash"/>
          </a:ln>
        </p:spPr>
        <p:txBody>
          <a:bodyPr vert="horz" lIns="91440" tIns="45720" rIns="91440" bIns="45720" rtlCol="0" anchor="t">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b="1" dirty="0"/>
              <a:t>Key Insights &amp; Data Breakdown</a:t>
            </a:r>
          </a:p>
          <a:p>
            <a:r>
              <a:rPr lang="en-GB" sz="2000" dirty="0"/>
              <a:t>The data can be grouped into three distinct tiers based on course volume:</a:t>
            </a:r>
          </a:p>
          <a:p>
            <a:r>
              <a:rPr lang="en-GB" sz="2000" b="1" dirty="0"/>
              <a:t>1. High-Volume Genres (The "Big Four")</a:t>
            </a:r>
          </a:p>
          <a:p>
            <a:r>
              <a:rPr lang="en-GB" sz="2000" dirty="0"/>
              <a:t>These subjects dominate the dataset, with each having over 50 courses:</a:t>
            </a:r>
          </a:p>
          <a:p>
            <a:r>
              <a:rPr lang="en-GB" sz="2000" b="1" dirty="0" err="1"/>
              <a:t>BackendDev</a:t>
            </a:r>
            <a:r>
              <a:rPr lang="en-GB" sz="2000" b="1" dirty="0"/>
              <a:t>:</a:t>
            </a:r>
            <a:r>
              <a:rPr lang="en-GB" sz="2000" dirty="0"/>
              <a:t> The most popular genre with nearly </a:t>
            </a:r>
            <a:r>
              <a:rPr lang="en-GB" sz="2000" b="1" dirty="0"/>
              <a:t>78 courses</a:t>
            </a:r>
            <a:r>
              <a:rPr lang="en-GB" sz="2000" dirty="0"/>
              <a:t>.</a:t>
            </a:r>
          </a:p>
          <a:p>
            <a:r>
              <a:rPr lang="en-GB" sz="2000" b="1" dirty="0" err="1"/>
              <a:t>MachineLearning</a:t>
            </a:r>
            <a:r>
              <a:rPr lang="en-GB" sz="2000" b="1" dirty="0"/>
              <a:t>:</a:t>
            </a:r>
            <a:r>
              <a:rPr lang="en-GB" sz="2000" dirty="0"/>
              <a:t> Closely follows with approximately </a:t>
            </a:r>
            <a:r>
              <a:rPr lang="en-GB" sz="2000" b="1" dirty="0"/>
              <a:t>69 courses</a:t>
            </a:r>
            <a:r>
              <a:rPr lang="en-GB" sz="2000" dirty="0"/>
              <a:t>.</a:t>
            </a:r>
          </a:p>
          <a:p>
            <a:r>
              <a:rPr lang="en-GB" sz="2000" b="1" dirty="0"/>
              <a:t>Database:</a:t>
            </a:r>
            <a:r>
              <a:rPr lang="en-GB" sz="2000" dirty="0"/>
              <a:t> Ranks third with </a:t>
            </a:r>
            <a:r>
              <a:rPr lang="en-GB" sz="2000" b="1" dirty="0"/>
              <a:t>60 courses</a:t>
            </a:r>
            <a:r>
              <a:rPr lang="en-GB" sz="2000" dirty="0"/>
              <a:t>.</a:t>
            </a:r>
          </a:p>
          <a:p>
            <a:r>
              <a:rPr lang="en-GB" sz="2000" b="1" dirty="0" err="1"/>
              <a:t>DataAnalysis</a:t>
            </a:r>
            <a:r>
              <a:rPr lang="en-GB" sz="2000" b="1" dirty="0"/>
              <a:t>:</a:t>
            </a:r>
            <a:r>
              <a:rPr lang="en-GB" sz="2000" dirty="0"/>
              <a:t> Rounds out the top tier with </a:t>
            </a:r>
            <a:r>
              <a:rPr lang="en-GB" sz="2000" b="1" dirty="0"/>
              <a:t>56 courses</a:t>
            </a:r>
            <a:r>
              <a:rPr lang="en-GB" sz="2000" dirty="0"/>
              <a:t>.</a:t>
            </a:r>
          </a:p>
          <a:p>
            <a:r>
              <a:rPr lang="en-GB" sz="2000" b="1" dirty="0"/>
              <a:t>2. Mid-Tier Genres</a:t>
            </a:r>
          </a:p>
          <a:p>
            <a:r>
              <a:rPr lang="en-GB" sz="2000" dirty="0"/>
              <a:t>These are specialized technical fields with a moderate number of offerings (roughly 20–40 courses):</a:t>
            </a:r>
          </a:p>
          <a:p>
            <a:r>
              <a:rPr lang="en-GB" sz="2000" b="1" dirty="0" err="1"/>
              <a:t>DataScience</a:t>
            </a:r>
            <a:r>
              <a:rPr lang="en-GB" sz="2000" b="1" dirty="0"/>
              <a:t> &amp; </a:t>
            </a:r>
            <a:r>
              <a:rPr lang="en-GB" sz="2000" b="1" dirty="0" err="1"/>
              <a:t>CloudComputing</a:t>
            </a:r>
            <a:r>
              <a:rPr lang="en-GB" sz="2000" b="1" dirty="0"/>
              <a:t>:</a:t>
            </a:r>
            <a:r>
              <a:rPr lang="en-GB" sz="2000" dirty="0"/>
              <a:t> Both sit in the high 30s (~37–38).</a:t>
            </a:r>
          </a:p>
          <a:p>
            <a:r>
              <a:rPr lang="en-GB" sz="2000" b="1" dirty="0" err="1"/>
              <a:t>BigData</a:t>
            </a:r>
            <a:r>
              <a:rPr lang="en-GB" sz="2000" b="1" dirty="0"/>
              <a:t>:</a:t>
            </a:r>
            <a:r>
              <a:rPr lang="en-GB" sz="2000" dirty="0"/>
              <a:t> Slightly lower at </a:t>
            </a:r>
            <a:r>
              <a:rPr lang="en-GB" sz="2000" b="1" dirty="0"/>
              <a:t>36 courses</a:t>
            </a:r>
            <a:r>
              <a:rPr lang="en-GB" sz="2000" dirty="0"/>
              <a:t>.</a:t>
            </a:r>
          </a:p>
          <a:p>
            <a:r>
              <a:rPr lang="en-GB" sz="2000" b="1" dirty="0"/>
              <a:t>Python:</a:t>
            </a:r>
            <a:r>
              <a:rPr lang="en-GB" sz="2000" dirty="0"/>
              <a:t> Interestingly, specifically tagged "Python" courses sit at </a:t>
            </a:r>
            <a:r>
              <a:rPr lang="en-GB" sz="2000" b="1" dirty="0"/>
              <a:t>28</a:t>
            </a:r>
            <a:r>
              <a:rPr lang="en-GB" sz="2000" dirty="0"/>
              <a:t>, though Python is likely a core component of the higher-ranking Data Science and ML categories.</a:t>
            </a:r>
          </a:p>
          <a:p>
            <a:r>
              <a:rPr lang="en-GB" sz="2000" b="1" dirty="0" err="1"/>
              <a:t>FrontendDev</a:t>
            </a:r>
            <a:r>
              <a:rPr lang="en-GB" sz="2000" b="1" dirty="0"/>
              <a:t>:</a:t>
            </a:r>
            <a:r>
              <a:rPr lang="en-GB" sz="2000" dirty="0"/>
              <a:t> Has just under </a:t>
            </a:r>
            <a:r>
              <a:rPr lang="en-GB" sz="2000" b="1" dirty="0"/>
              <a:t>20 courses</a:t>
            </a:r>
            <a:r>
              <a:rPr lang="en-GB" sz="2000" dirty="0"/>
              <a:t>.</a:t>
            </a:r>
          </a:p>
          <a:p>
            <a:r>
              <a:rPr lang="en-GB" sz="2000" b="1" dirty="0"/>
              <a:t>3. Niche or Emerging Genres</a:t>
            </a:r>
          </a:p>
          <a:p>
            <a:r>
              <a:rPr lang="en-GB" sz="2000" dirty="0"/>
              <a:t>The following categories have the fewest courses (below 20), suggesting they are either highly specialized or smaller components of the curriculum:</a:t>
            </a:r>
          </a:p>
          <a:p>
            <a:r>
              <a:rPr lang="en-GB" sz="2000" b="1" dirty="0"/>
              <a:t>Containers &amp; R:</a:t>
            </a:r>
            <a:r>
              <a:rPr lang="en-GB" sz="2000" dirty="0"/>
              <a:t> Both have </a:t>
            </a:r>
            <a:r>
              <a:rPr lang="en-GB" sz="2000" b="1" dirty="0"/>
              <a:t>17 courses</a:t>
            </a:r>
            <a:r>
              <a:rPr lang="en-GB" sz="2000" dirty="0"/>
              <a:t>.</a:t>
            </a:r>
          </a:p>
          <a:p>
            <a:r>
              <a:rPr lang="en-GB" sz="2000" b="1" dirty="0" err="1"/>
              <a:t>ComputerVision</a:t>
            </a:r>
            <a:r>
              <a:rPr lang="en-GB" sz="2000" b="1" dirty="0"/>
              <a:t>:</a:t>
            </a:r>
            <a:r>
              <a:rPr lang="en-GB" sz="2000" dirty="0"/>
              <a:t> </a:t>
            </a:r>
            <a:r>
              <a:rPr lang="en-GB" sz="2000" b="1" dirty="0"/>
              <a:t>10 courses</a:t>
            </a:r>
            <a:r>
              <a:rPr lang="en-GB" sz="2000" dirty="0"/>
              <a:t>.</a:t>
            </a:r>
          </a:p>
          <a:p>
            <a:r>
              <a:rPr lang="en-GB" sz="2000" b="1" dirty="0"/>
              <a:t>Chatbot &amp; Blockchain:</a:t>
            </a:r>
            <a:r>
              <a:rPr lang="en-GB" sz="2000" dirty="0"/>
              <a:t> These are the least common, with only </a:t>
            </a:r>
            <a:r>
              <a:rPr lang="en-GB" sz="2000" b="1" dirty="0"/>
              <a:t>4 courses</a:t>
            </a:r>
            <a:r>
              <a:rPr lang="en-GB" sz="2000" dirty="0"/>
              <a:t> each.</a:t>
            </a:r>
          </a:p>
          <a:p>
            <a:pPr marL="0" indent="0">
              <a:buNone/>
            </a:pPr>
            <a:endParaRPr lang="en-US" sz="2200" dirty="0">
              <a:solidFill>
                <a:srgbClr val="1C7DDB"/>
              </a:solidFill>
              <a:latin typeface="Abadi"/>
            </a:endParaRPr>
          </a:p>
          <a:p>
            <a:pPr>
              <a:buFontTx/>
              <a:buChar char="-"/>
            </a:pPr>
            <a:endParaRPr lang="en-US" sz="2200" dirty="0">
              <a:solidFill>
                <a:srgbClr val="1C7DDB"/>
              </a:solidFill>
              <a:latin typeface="Abadi"/>
            </a:endParaRPr>
          </a:p>
        </p:txBody>
      </p:sp>
      <p:pic>
        <p:nvPicPr>
          <p:cNvPr id="5" name="Picture 4">
            <a:extLst>
              <a:ext uri="{FF2B5EF4-FFF2-40B4-BE49-F238E27FC236}">
                <a16:creationId xmlns:a16="http://schemas.microsoft.com/office/drawing/2014/main" id="{F1A655EA-DC6F-0F41-6581-50BD88A4E0A2}"/>
              </a:ext>
            </a:extLst>
          </p:cNvPr>
          <p:cNvPicPr>
            <a:picLocks noChangeAspect="1"/>
          </p:cNvPicPr>
          <p:nvPr/>
        </p:nvPicPr>
        <p:blipFill>
          <a:blip r:embed="rId2"/>
          <a:stretch>
            <a:fillRect/>
          </a:stretch>
        </p:blipFill>
        <p:spPr>
          <a:xfrm>
            <a:off x="7052393" y="1547446"/>
            <a:ext cx="4225207" cy="2544335"/>
          </a:xfrm>
          <a:prstGeom prst="rect">
            <a:avLst/>
          </a:prstGeom>
        </p:spPr>
      </p:pic>
    </p:spTree>
    <p:extLst>
      <p:ext uri="{BB962C8B-B14F-4D97-AF65-F5344CB8AC3E}">
        <p14:creationId xmlns:p14="http://schemas.microsoft.com/office/powerpoint/2010/main" val="27655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2000" dirty="0">
                <a:solidFill>
                  <a:srgbClr val="0B49CB"/>
                </a:solidFill>
                <a:latin typeface="Abadi"/>
              </a:rPr>
              <a:t>Course enrollment distribution</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38200" y="697479"/>
            <a:ext cx="10515600" cy="5672843"/>
          </a:xfrm>
          <a:prstGeom prst="rect">
            <a:avLst/>
          </a:prstGeom>
          <a:ln>
            <a:solidFill>
              <a:srgbClr val="0B49CB"/>
            </a:solidFill>
            <a:prstDash val="dash"/>
          </a:ln>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b="1" dirty="0"/>
              <a:t>The Landscape of Technical Curriculum</a:t>
            </a:r>
          </a:p>
          <a:p>
            <a:r>
              <a:rPr lang="en-GB" sz="1400" dirty="0"/>
              <a:t>To build an effective recommender system, we must first understand the "supply side" of the platform—the distribution of courses across different technical domains. Our analysis reveals a diverse curriculum focused on high-demand skills, categorized into three distinct tiers based on course volume</a:t>
            </a:r>
          </a:p>
          <a:p>
            <a:pPr marL="0" indent="0">
              <a:buNone/>
            </a:pPr>
            <a:r>
              <a:rPr lang="en-GB" sz="1400" b="1" dirty="0"/>
              <a:t>1. High-Volume Genres (The "Big Four")</a:t>
            </a:r>
          </a:p>
          <a:p>
            <a:pPr marL="0" indent="0">
              <a:buNone/>
            </a:pPr>
            <a:r>
              <a:rPr lang="en-GB" sz="1400" dirty="0"/>
              <a:t>These core subjects dominate the dataset, forming the foundation of the MOOC startup’s offerings</a:t>
            </a:r>
          </a:p>
          <a:p>
            <a:r>
              <a:rPr lang="en-GB" sz="1400" b="1" dirty="0"/>
              <a:t>Backend Development</a:t>
            </a:r>
            <a:r>
              <a:rPr lang="en-GB" sz="1400" dirty="0"/>
              <a:t>: The most prevalent genre with nearly </a:t>
            </a:r>
            <a:r>
              <a:rPr lang="en-GB" sz="1400" b="1" dirty="0"/>
              <a:t>78 courses</a:t>
            </a:r>
            <a:r>
              <a:rPr lang="en-GB" sz="1400" dirty="0"/>
              <a:t>, highlighting a strong focus on server-side architecture</a:t>
            </a:r>
          </a:p>
          <a:p>
            <a:r>
              <a:rPr lang="en-GB" sz="1400" b="1" dirty="0"/>
              <a:t>Machine Learning</a:t>
            </a:r>
            <a:r>
              <a:rPr lang="en-GB" sz="1400" dirty="0"/>
              <a:t>: Closely following with approximately </a:t>
            </a:r>
            <a:r>
              <a:rPr lang="en-GB" sz="1400" b="1" dirty="0"/>
              <a:t>69 courses</a:t>
            </a:r>
            <a:r>
              <a:rPr lang="en-GB" sz="1400" dirty="0"/>
              <a:t>, reflecting the high market demand for AI expertise</a:t>
            </a:r>
          </a:p>
          <a:p>
            <a:r>
              <a:rPr lang="en-GB" sz="1400" b="1" dirty="0"/>
              <a:t>Database</a:t>
            </a:r>
            <a:r>
              <a:rPr lang="en-GB" sz="1400" dirty="0"/>
              <a:t>: Ranks third with </a:t>
            </a:r>
            <a:r>
              <a:rPr lang="en-GB" sz="1400" b="1" dirty="0"/>
              <a:t>60 courses</a:t>
            </a:r>
            <a:r>
              <a:rPr lang="en-GB" sz="1400" dirty="0"/>
              <a:t>, emphasizing the importance of data storage and management.</a:t>
            </a:r>
          </a:p>
          <a:p>
            <a:r>
              <a:rPr lang="en-GB" sz="1400" b="1" dirty="0"/>
              <a:t>Data Analysis</a:t>
            </a:r>
            <a:r>
              <a:rPr lang="en-GB" sz="1400" dirty="0"/>
              <a:t>: Rounds out the top tier with </a:t>
            </a:r>
            <a:r>
              <a:rPr lang="en-GB" sz="1400" b="1" dirty="0"/>
              <a:t>56 courses</a:t>
            </a:r>
            <a:r>
              <a:rPr lang="en-GB" sz="1400" dirty="0"/>
              <a:t> dedicated to transforming raw data into insights</a:t>
            </a:r>
          </a:p>
          <a:p>
            <a:pPr marL="0" indent="0">
              <a:buNone/>
            </a:pPr>
            <a:r>
              <a:rPr lang="en-GB" sz="1400" b="1" dirty="0"/>
              <a:t>2. Mid-Tier Specialized Fields</a:t>
            </a:r>
          </a:p>
          <a:p>
            <a:pPr marL="0" indent="0">
              <a:buNone/>
            </a:pPr>
            <a:r>
              <a:rPr lang="en-GB" sz="1400" dirty="0"/>
              <a:t>These are technical areas with a moderate number of offerings, typically ranging from </a:t>
            </a:r>
            <a:r>
              <a:rPr lang="en-GB" sz="1400" b="1" dirty="0"/>
              <a:t>20 to 40 courses</a:t>
            </a:r>
            <a:r>
              <a:rPr lang="en-GB" sz="1400" dirty="0"/>
              <a:t>:</a:t>
            </a:r>
          </a:p>
          <a:p>
            <a:r>
              <a:rPr lang="en-GB" sz="1400" b="1" dirty="0"/>
              <a:t>Data Science &amp; Cloud Computing</a:t>
            </a:r>
            <a:r>
              <a:rPr lang="en-GB" sz="1400" dirty="0"/>
              <a:t>: Both fields sit in the high 30s (~37–38 courses), representing the infrastructure and methodology of modern AI.</a:t>
            </a:r>
          </a:p>
          <a:p>
            <a:r>
              <a:rPr lang="en-GB" sz="1400" b="1" dirty="0"/>
              <a:t>Big Data</a:t>
            </a:r>
            <a:r>
              <a:rPr lang="en-GB" sz="1400" dirty="0"/>
              <a:t>: Offers </a:t>
            </a:r>
            <a:r>
              <a:rPr lang="en-GB" sz="1400" b="1" dirty="0"/>
              <a:t>36 courses</a:t>
            </a:r>
            <a:r>
              <a:rPr lang="en-GB" sz="1400" dirty="0"/>
              <a:t> focused on large-scale distributed processing</a:t>
            </a:r>
          </a:p>
          <a:p>
            <a:r>
              <a:rPr lang="en-GB" sz="1400" b="1" dirty="0"/>
              <a:t>Python</a:t>
            </a:r>
            <a:r>
              <a:rPr lang="en-GB" sz="1400" dirty="0"/>
              <a:t>: Interestingly, specifically tagged "Python" courses sit at </a:t>
            </a:r>
            <a:r>
              <a:rPr lang="en-GB" sz="1400" b="1" dirty="0"/>
              <a:t>28</a:t>
            </a:r>
            <a:r>
              <a:rPr lang="en-GB" sz="1400" dirty="0"/>
              <a:t>, though Python is likely a core component of the ML and Data Science categories</a:t>
            </a:r>
          </a:p>
          <a:p>
            <a:r>
              <a:rPr lang="en-GB" sz="1400" b="1" dirty="0"/>
              <a:t>Frontend Development</a:t>
            </a:r>
            <a:r>
              <a:rPr lang="en-GB" sz="1400" dirty="0"/>
              <a:t>: Provides just under </a:t>
            </a:r>
            <a:r>
              <a:rPr lang="en-GB" sz="1400" b="1" dirty="0"/>
              <a:t>20 courses</a:t>
            </a:r>
            <a:r>
              <a:rPr lang="en-GB" sz="1400" dirty="0"/>
              <a:t>, focusing on user interface design</a:t>
            </a:r>
          </a:p>
          <a:p>
            <a:pPr marL="0" indent="0">
              <a:buNone/>
            </a:pPr>
            <a:r>
              <a:rPr lang="en-GB" sz="1400" b="1" dirty="0"/>
              <a:t>3. Niche and Emerging Technologies</a:t>
            </a:r>
          </a:p>
          <a:p>
            <a:pPr marL="0" indent="0">
              <a:buNone/>
            </a:pPr>
            <a:r>
              <a:rPr lang="en-GB" sz="1400" dirty="0"/>
              <a:t>The following categories have fewer than </a:t>
            </a:r>
            <a:r>
              <a:rPr lang="en-GB" sz="1400" b="1" dirty="0"/>
              <a:t>20 courses</a:t>
            </a:r>
            <a:r>
              <a:rPr lang="en-GB" sz="1400" dirty="0"/>
              <a:t>, suggesting they are highly specialized or represent newer additions to the curriculum:</a:t>
            </a:r>
          </a:p>
          <a:p>
            <a:r>
              <a:rPr lang="en-GB" sz="1400" b="1" dirty="0"/>
              <a:t>Containers &amp; R</a:t>
            </a:r>
            <a:r>
              <a:rPr lang="en-GB" sz="1400" dirty="0"/>
              <a:t>: Both have </a:t>
            </a:r>
            <a:r>
              <a:rPr lang="en-GB" sz="1400" b="1" dirty="0"/>
              <a:t>17 courses</a:t>
            </a:r>
            <a:r>
              <a:rPr lang="en-GB" sz="1400" dirty="0"/>
              <a:t>, covering specialized deployment and statistical computing</a:t>
            </a:r>
          </a:p>
          <a:p>
            <a:r>
              <a:rPr lang="en-GB" sz="1400" b="1" dirty="0"/>
              <a:t>Computer Vision</a:t>
            </a:r>
            <a:r>
              <a:rPr lang="en-GB" sz="1400" dirty="0"/>
              <a:t>: A highly specialized AI subfield with </a:t>
            </a:r>
            <a:r>
              <a:rPr lang="en-GB" sz="1400" b="1" dirty="0"/>
              <a:t>10 courses</a:t>
            </a:r>
          </a:p>
          <a:p>
            <a:r>
              <a:rPr lang="en-GB" sz="1400" b="1" dirty="0"/>
              <a:t>Chatbot &amp; Blockchain</a:t>
            </a:r>
            <a:r>
              <a:rPr lang="en-GB" sz="1400" dirty="0"/>
              <a:t>: These represent the most niche categories, with only </a:t>
            </a:r>
            <a:r>
              <a:rPr lang="en-GB" sz="1400" b="1" dirty="0"/>
              <a:t>4 courses each</a:t>
            </a:r>
            <a:endParaRPr lang="en-GB" sz="1400" dirty="0"/>
          </a:p>
          <a:p>
            <a:endParaRPr lang="en-GB" sz="1400" dirty="0"/>
          </a:p>
          <a:p>
            <a:pPr marL="0" indent="0">
              <a:buNone/>
            </a:pPr>
            <a:endParaRPr lang="en-GB" sz="1400" dirty="0"/>
          </a:p>
          <a:p>
            <a:pPr marL="0" indent="0">
              <a:buNone/>
            </a:pPr>
            <a:endParaRPr lang="en-US" sz="1400" dirty="0">
              <a:solidFill>
                <a:srgbClr val="1C7DDB"/>
              </a:solidFill>
              <a:latin typeface="Abadi"/>
              <a:cs typeface="Calibri"/>
            </a:endParaRPr>
          </a:p>
        </p:txBody>
      </p:sp>
      <p:pic>
        <p:nvPicPr>
          <p:cNvPr id="5" name="Picture 4">
            <a:extLst>
              <a:ext uri="{FF2B5EF4-FFF2-40B4-BE49-F238E27FC236}">
                <a16:creationId xmlns:a16="http://schemas.microsoft.com/office/drawing/2014/main" id="{8D685A99-9E28-DD7D-415B-15D1D1FFABAA}"/>
              </a:ext>
            </a:extLst>
          </p:cNvPr>
          <p:cNvPicPr>
            <a:picLocks noChangeAspect="1"/>
          </p:cNvPicPr>
          <p:nvPr/>
        </p:nvPicPr>
        <p:blipFill>
          <a:blip r:embed="rId2"/>
          <a:stretch>
            <a:fillRect/>
          </a:stretch>
        </p:blipFill>
        <p:spPr>
          <a:xfrm>
            <a:off x="8519783" y="5159829"/>
            <a:ext cx="3008189" cy="1698171"/>
          </a:xfrm>
          <a:prstGeom prst="rect">
            <a:avLst/>
          </a:prstGeom>
        </p:spPr>
      </p:pic>
    </p:spTree>
    <p:extLst>
      <p:ext uri="{BB962C8B-B14F-4D97-AF65-F5344CB8AC3E}">
        <p14:creationId xmlns:p14="http://schemas.microsoft.com/office/powerpoint/2010/main" val="2945704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a:xfrm>
            <a:off x="838197" y="27668"/>
            <a:ext cx="10515600" cy="1325563"/>
          </a:xfrm>
        </p:spPr>
        <p:txBody>
          <a:bodyPr/>
          <a:lstStyle/>
          <a:p>
            <a:r>
              <a:rPr lang="en-US" sz="2000" dirty="0">
                <a:solidFill>
                  <a:srgbClr val="0B49CB"/>
                </a:solidFill>
                <a:latin typeface="Abadi"/>
              </a:rPr>
              <a:t>20 most popular courses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130629" y="322001"/>
            <a:ext cx="11898085" cy="6350942"/>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dirty="0"/>
          </a:p>
          <a:p>
            <a:pPr marL="0" indent="0">
              <a:buNone/>
            </a:pPr>
            <a:endParaRPr lang="en-GB" sz="1400" dirty="0"/>
          </a:p>
          <a:p>
            <a:pPr marL="0" indent="0">
              <a:buNone/>
            </a:pPr>
            <a:endParaRPr lang="en-US" sz="2200" dirty="0">
              <a:solidFill>
                <a:srgbClr val="1C7DDB"/>
              </a:solidFill>
              <a:latin typeface="Abadi"/>
              <a:cs typeface="Calibri"/>
            </a:endParaRPr>
          </a:p>
        </p:txBody>
      </p:sp>
      <p:sp>
        <p:nvSpPr>
          <p:cNvPr id="9" name="TextBox 8">
            <a:extLst>
              <a:ext uri="{FF2B5EF4-FFF2-40B4-BE49-F238E27FC236}">
                <a16:creationId xmlns:a16="http://schemas.microsoft.com/office/drawing/2014/main" id="{69898796-E54C-99BC-24DD-E17CCAE810BF}"/>
              </a:ext>
            </a:extLst>
          </p:cNvPr>
          <p:cNvSpPr txBox="1"/>
          <p:nvPr/>
        </p:nvSpPr>
        <p:spPr>
          <a:xfrm>
            <a:off x="838199" y="335715"/>
            <a:ext cx="10515599" cy="1015663"/>
          </a:xfrm>
          <a:prstGeom prst="rect">
            <a:avLst/>
          </a:prstGeom>
          <a:noFill/>
        </p:spPr>
        <p:txBody>
          <a:bodyPr wrap="square">
            <a:spAutoFit/>
          </a:bodyPr>
          <a:lstStyle/>
          <a:p>
            <a:pPr>
              <a:buNone/>
            </a:pPr>
            <a:r>
              <a:rPr lang="en-GB" sz="1200" dirty="0"/>
              <a:t>Based on the data provided in the project report, the 20 most popular courses are identified by their total </a:t>
            </a:r>
            <a:r>
              <a:rPr lang="en-GB" sz="1200" dirty="0" err="1"/>
              <a:t>enrollment</a:t>
            </a:r>
            <a:r>
              <a:rPr lang="en-GB" sz="1200" dirty="0"/>
              <a:t> numbers (ratings). These courses represent the foundational pillars of the MOOC platform, with a heavy emphasis on </a:t>
            </a:r>
            <a:r>
              <a:rPr lang="en-GB" sz="1200" b="1" dirty="0"/>
              <a:t>Python</a:t>
            </a:r>
            <a:r>
              <a:rPr lang="en-GB" sz="1200" dirty="0"/>
              <a:t>, </a:t>
            </a:r>
            <a:r>
              <a:rPr lang="en-GB" sz="1200" b="1" dirty="0"/>
              <a:t>Data Science</a:t>
            </a:r>
            <a:r>
              <a:rPr lang="en-GB" sz="1200" dirty="0"/>
              <a:t>, and </a:t>
            </a:r>
            <a:r>
              <a:rPr lang="en-GB" sz="1200" b="1" dirty="0"/>
              <a:t>Big Data</a:t>
            </a:r>
            <a:r>
              <a:rPr lang="en-GB" sz="1200" dirty="0"/>
              <a:t>.</a:t>
            </a:r>
          </a:p>
          <a:p>
            <a:pPr>
              <a:buNone/>
            </a:pPr>
            <a:endParaRPr lang="en-GB" sz="1200" dirty="0"/>
          </a:p>
          <a:p>
            <a:pPr>
              <a:buNone/>
            </a:pPr>
            <a:r>
              <a:rPr lang="en-GB" sz="1200" b="1" dirty="0"/>
              <a:t>Top 20 Most Popular Courses by </a:t>
            </a:r>
            <a:r>
              <a:rPr lang="en-GB" sz="1200" b="1" dirty="0" err="1"/>
              <a:t>Enrollment</a:t>
            </a:r>
            <a:endParaRPr lang="en-GB" sz="1200" b="1" dirty="0"/>
          </a:p>
          <a:p>
            <a:pPr>
              <a:buNone/>
            </a:pPr>
            <a:r>
              <a:rPr lang="en-GB" sz="1200" dirty="0"/>
              <a:t>The following table details the top 20 courses ranked by their total user ratings/</a:t>
            </a:r>
            <a:r>
              <a:rPr lang="en-GB" sz="1200" dirty="0" err="1"/>
              <a:t>enrollments</a:t>
            </a:r>
            <a:r>
              <a:rPr lang="en-GB" sz="1200" dirty="0"/>
              <a:t>:</a:t>
            </a:r>
          </a:p>
        </p:txBody>
      </p:sp>
      <p:graphicFrame>
        <p:nvGraphicFramePr>
          <p:cNvPr id="10" name="Table 9">
            <a:extLst>
              <a:ext uri="{FF2B5EF4-FFF2-40B4-BE49-F238E27FC236}">
                <a16:creationId xmlns:a16="http://schemas.microsoft.com/office/drawing/2014/main" id="{D921CC87-B167-2BDA-5F49-FABE73E81656}"/>
              </a:ext>
            </a:extLst>
          </p:cNvPr>
          <p:cNvGraphicFramePr>
            <a:graphicFrameLocks noGrp="1"/>
          </p:cNvGraphicFramePr>
          <p:nvPr>
            <p:extLst>
              <p:ext uri="{D42A27DB-BD31-4B8C-83A1-F6EECF244321}">
                <p14:modId xmlns:p14="http://schemas.microsoft.com/office/powerpoint/2010/main" val="1598032448"/>
              </p:ext>
            </p:extLst>
          </p:nvPr>
        </p:nvGraphicFramePr>
        <p:xfrm>
          <a:off x="1045029" y="1288881"/>
          <a:ext cx="9786256" cy="4116536"/>
        </p:xfrm>
        <a:graphic>
          <a:graphicData uri="http://schemas.openxmlformats.org/drawingml/2006/table">
            <a:tbl>
              <a:tblPr/>
              <a:tblGrid>
                <a:gridCol w="2446564">
                  <a:extLst>
                    <a:ext uri="{9D8B030D-6E8A-4147-A177-3AD203B41FA5}">
                      <a16:colId xmlns:a16="http://schemas.microsoft.com/office/drawing/2014/main" val="3729182088"/>
                    </a:ext>
                  </a:extLst>
                </a:gridCol>
                <a:gridCol w="2446564">
                  <a:extLst>
                    <a:ext uri="{9D8B030D-6E8A-4147-A177-3AD203B41FA5}">
                      <a16:colId xmlns:a16="http://schemas.microsoft.com/office/drawing/2014/main" val="3217577665"/>
                    </a:ext>
                  </a:extLst>
                </a:gridCol>
                <a:gridCol w="2446564">
                  <a:extLst>
                    <a:ext uri="{9D8B030D-6E8A-4147-A177-3AD203B41FA5}">
                      <a16:colId xmlns:a16="http://schemas.microsoft.com/office/drawing/2014/main" val="3478350333"/>
                    </a:ext>
                  </a:extLst>
                </a:gridCol>
                <a:gridCol w="2446564">
                  <a:extLst>
                    <a:ext uri="{9D8B030D-6E8A-4147-A177-3AD203B41FA5}">
                      <a16:colId xmlns:a16="http://schemas.microsoft.com/office/drawing/2014/main" val="3399146567"/>
                    </a:ext>
                  </a:extLst>
                </a:gridCol>
              </a:tblGrid>
              <a:tr h="157324">
                <a:tc>
                  <a:txBody>
                    <a:bodyPr/>
                    <a:lstStyle/>
                    <a:p>
                      <a:pPr rtl="0">
                        <a:buNone/>
                      </a:pPr>
                      <a:r>
                        <a:rPr lang="en-IN" sz="800" b="1">
                          <a:solidFill>
                            <a:srgbClr val="1F1F1F"/>
                          </a:solidFill>
                          <a:effectLst/>
                          <a:latin typeface="Google Sans Text"/>
                        </a:rPr>
                        <a:t>Rank</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b="1">
                          <a:solidFill>
                            <a:srgbClr val="1F1F1F"/>
                          </a:solidFill>
                          <a:effectLst/>
                          <a:latin typeface="Google Sans Text"/>
                        </a:rPr>
                        <a:t>Course ID</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b="1">
                          <a:solidFill>
                            <a:srgbClr val="1F1F1F"/>
                          </a:solidFill>
                          <a:effectLst/>
                          <a:latin typeface="Google Sans Text"/>
                        </a:rPr>
                        <a:t>Course Title/Subject Area</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b="1">
                          <a:solidFill>
                            <a:srgbClr val="1F1F1F"/>
                          </a:solidFill>
                          <a:effectLst/>
                          <a:latin typeface="Google Sans Text"/>
                        </a:rPr>
                        <a:t>Total Ratings</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0520326"/>
                  </a:ext>
                </a:extLst>
              </a:tr>
              <a:tr h="250648">
                <a:tc>
                  <a:txBody>
                    <a:bodyPr/>
                    <a:lstStyle/>
                    <a:p>
                      <a:pPr rtl="0">
                        <a:buNone/>
                      </a:pPr>
                      <a:r>
                        <a:rPr lang="en-IN" sz="800" b="1">
                          <a:solidFill>
                            <a:srgbClr val="1F1F1F"/>
                          </a:solidFill>
                          <a:effectLst/>
                          <a:latin typeface="Google Sans Text"/>
                        </a:rPr>
                        <a:t>1</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PY0101EN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Python for Data Science, AI &amp; Development</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14,936</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07063978"/>
                  </a:ext>
                </a:extLst>
              </a:tr>
              <a:tr h="247005">
                <a:tc>
                  <a:txBody>
                    <a:bodyPr/>
                    <a:lstStyle/>
                    <a:p>
                      <a:pPr rtl="0">
                        <a:buNone/>
                      </a:pPr>
                      <a:r>
                        <a:rPr lang="en-IN" sz="800" b="1">
                          <a:solidFill>
                            <a:srgbClr val="1F1F1F"/>
                          </a:solidFill>
                          <a:effectLst/>
                          <a:latin typeface="Google Sans Text"/>
                        </a:rPr>
                        <a:t>2</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DS0101EN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Introduction to Data Science</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14,477</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23286279"/>
                  </a:ext>
                </a:extLst>
              </a:tr>
              <a:tr h="157324">
                <a:tc>
                  <a:txBody>
                    <a:bodyPr/>
                    <a:lstStyle/>
                    <a:p>
                      <a:pPr rtl="0">
                        <a:buNone/>
                      </a:pPr>
                      <a:r>
                        <a:rPr lang="en-IN" sz="800" b="1">
                          <a:solidFill>
                            <a:srgbClr val="1F1F1F"/>
                          </a:solidFill>
                          <a:effectLst/>
                          <a:latin typeface="Google Sans Text"/>
                        </a:rPr>
                        <a:t>3</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BD0101EN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Big Data 101</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13,291</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28760256"/>
                  </a:ext>
                </a:extLst>
              </a:tr>
              <a:tr h="157324">
                <a:tc>
                  <a:txBody>
                    <a:bodyPr/>
                    <a:lstStyle/>
                    <a:p>
                      <a:pPr rtl="0">
                        <a:buNone/>
                      </a:pPr>
                      <a:r>
                        <a:rPr lang="en-IN" sz="800" b="1">
                          <a:solidFill>
                            <a:srgbClr val="1F1F1F"/>
                          </a:solidFill>
                          <a:effectLst/>
                          <a:latin typeface="Google Sans Text"/>
                        </a:rPr>
                        <a:t>4</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BD0111EN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Hadoop 101</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10,599</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11139492"/>
                  </a:ext>
                </a:extLst>
              </a:tr>
              <a:tr h="157324">
                <a:tc>
                  <a:txBody>
                    <a:bodyPr/>
                    <a:lstStyle/>
                    <a:p>
                      <a:pPr rtl="0">
                        <a:buNone/>
                      </a:pPr>
                      <a:r>
                        <a:rPr lang="en-IN" sz="800" b="1">
                          <a:solidFill>
                            <a:srgbClr val="1F1F1F"/>
                          </a:solidFill>
                          <a:effectLst/>
                          <a:latin typeface="Google Sans Text"/>
                        </a:rPr>
                        <a:t>5</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DA0101EN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Data Analysis with Python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8,303</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2360623"/>
                  </a:ext>
                </a:extLst>
              </a:tr>
              <a:tr h="157324">
                <a:tc>
                  <a:txBody>
                    <a:bodyPr/>
                    <a:lstStyle/>
                    <a:p>
                      <a:pPr rtl="0">
                        <a:buNone/>
                      </a:pPr>
                      <a:r>
                        <a:rPr lang="en-IN" sz="800" b="1">
                          <a:solidFill>
                            <a:srgbClr val="1F1F1F"/>
                          </a:solidFill>
                          <a:effectLst/>
                          <a:latin typeface="Google Sans Text"/>
                        </a:rPr>
                        <a:t>6</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DS0103EN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Data Science Tools</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7,719</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17303956"/>
                  </a:ext>
                </a:extLst>
              </a:tr>
              <a:tr h="247005">
                <a:tc>
                  <a:txBody>
                    <a:bodyPr/>
                    <a:lstStyle/>
                    <a:p>
                      <a:pPr rtl="0">
                        <a:buNone/>
                      </a:pPr>
                      <a:r>
                        <a:rPr lang="en-IN" sz="800" b="1" dirty="0">
                          <a:solidFill>
                            <a:srgbClr val="1F1F1F"/>
                          </a:solidFill>
                          <a:effectLst/>
                          <a:latin typeface="Google Sans Text"/>
                        </a:rPr>
                        <a:t>7</a:t>
                      </a:r>
                      <a:endParaRPr lang="en-IN" sz="800" dirty="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ML0101ENv3</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Machine Learning with Python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7,644</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95222815"/>
                  </a:ext>
                </a:extLst>
              </a:tr>
              <a:tr h="157324">
                <a:tc>
                  <a:txBody>
                    <a:bodyPr/>
                    <a:lstStyle/>
                    <a:p>
                      <a:pPr rtl="0">
                        <a:buNone/>
                      </a:pPr>
                      <a:r>
                        <a:rPr lang="en-IN" sz="800" b="1">
                          <a:solidFill>
                            <a:srgbClr val="1F1F1F"/>
                          </a:solidFill>
                          <a:effectLst/>
                          <a:latin typeface="Google Sans Text"/>
                        </a:rPr>
                        <a:t>8</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BD0211EN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Spark Fundamentals I</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7,551</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21200443"/>
                  </a:ext>
                </a:extLst>
              </a:tr>
              <a:tr h="247005">
                <a:tc>
                  <a:txBody>
                    <a:bodyPr/>
                    <a:lstStyle/>
                    <a:p>
                      <a:pPr rtl="0">
                        <a:buNone/>
                      </a:pPr>
                      <a:r>
                        <a:rPr lang="en-IN" sz="800" b="1">
                          <a:solidFill>
                            <a:srgbClr val="1F1F1F"/>
                          </a:solidFill>
                          <a:effectLst/>
                          <a:latin typeface="Google Sans Text"/>
                        </a:rPr>
                        <a:t>9</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DS0105EN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Data Science Methodology</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7,199</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37563045"/>
                  </a:ext>
                </a:extLst>
              </a:tr>
              <a:tr h="157324">
                <a:tc>
                  <a:txBody>
                    <a:bodyPr/>
                    <a:lstStyle/>
                    <a:p>
                      <a:pPr rtl="0">
                        <a:buNone/>
                      </a:pPr>
                      <a:r>
                        <a:rPr lang="en-IN" sz="800" b="1">
                          <a:solidFill>
                            <a:srgbClr val="1F1F1F"/>
                          </a:solidFill>
                          <a:effectLst/>
                          <a:latin typeface="Google Sans Text"/>
                        </a:rPr>
                        <a:t>10</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BC0101EN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Blockchain Essentials</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6,719</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367575"/>
                  </a:ext>
                </a:extLst>
              </a:tr>
              <a:tr h="247005">
                <a:tc>
                  <a:txBody>
                    <a:bodyPr/>
                    <a:lstStyle/>
                    <a:p>
                      <a:pPr rtl="0">
                        <a:buNone/>
                      </a:pPr>
                      <a:r>
                        <a:rPr lang="en-IN" sz="800" b="1">
                          <a:solidFill>
                            <a:srgbClr val="1F1F1F"/>
                          </a:solidFill>
                          <a:effectLst/>
                          <a:latin typeface="Google Sans Text"/>
                        </a:rPr>
                        <a:t>11</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DV0101EN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Data Visualization with Python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6,709</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41043639"/>
                  </a:ext>
                </a:extLst>
              </a:tr>
              <a:tr h="157324">
                <a:tc>
                  <a:txBody>
                    <a:bodyPr/>
                    <a:lstStyle/>
                    <a:p>
                      <a:pPr rtl="0">
                        <a:buNone/>
                      </a:pPr>
                      <a:r>
                        <a:rPr lang="en-IN" sz="800" b="1">
                          <a:solidFill>
                            <a:srgbClr val="1F1F1F"/>
                          </a:solidFill>
                          <a:effectLst/>
                          <a:latin typeface="Google Sans Text"/>
                        </a:rPr>
                        <a:t>12</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ML0115EN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Deep Learning 101</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6,323</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09524889"/>
                  </a:ext>
                </a:extLst>
              </a:tr>
              <a:tr h="157324">
                <a:tc>
                  <a:txBody>
                    <a:bodyPr/>
                    <a:lstStyle/>
                    <a:p>
                      <a:pPr rtl="0">
                        <a:buNone/>
                      </a:pPr>
                      <a:r>
                        <a:rPr lang="en-IN" sz="800" b="1">
                          <a:solidFill>
                            <a:srgbClr val="1F1F1F"/>
                          </a:solidFill>
                          <a:effectLst/>
                          <a:latin typeface="Google Sans Text"/>
                        </a:rPr>
                        <a:t>13</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CB0103EN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Chatbot Fundamentals</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5,512</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38068461"/>
                  </a:ext>
                </a:extLst>
              </a:tr>
              <a:tr h="157324">
                <a:tc>
                  <a:txBody>
                    <a:bodyPr/>
                    <a:lstStyle/>
                    <a:p>
                      <a:pPr rtl="0">
                        <a:buNone/>
                      </a:pPr>
                      <a:r>
                        <a:rPr lang="en-IN" sz="800" b="1">
                          <a:solidFill>
                            <a:srgbClr val="1F1F1F"/>
                          </a:solidFill>
                          <a:effectLst/>
                          <a:latin typeface="Google Sans Text"/>
                        </a:rPr>
                        <a:t>14</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RP0101EN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R for Data Science</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5,237</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31437619"/>
                  </a:ext>
                </a:extLst>
              </a:tr>
              <a:tr h="157324">
                <a:tc>
                  <a:txBody>
                    <a:bodyPr/>
                    <a:lstStyle/>
                    <a:p>
                      <a:pPr rtl="0">
                        <a:buNone/>
                      </a:pPr>
                      <a:r>
                        <a:rPr lang="en-IN" sz="800" b="1">
                          <a:solidFill>
                            <a:srgbClr val="1F1F1F"/>
                          </a:solidFill>
                          <a:effectLst/>
                          <a:latin typeface="Google Sans Text"/>
                        </a:rPr>
                        <a:t>15</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ST0101EN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Statistics 101</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5,015</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74344514"/>
                  </a:ext>
                </a:extLst>
              </a:tr>
              <a:tr h="157324">
                <a:tc>
                  <a:txBody>
                    <a:bodyPr/>
                    <a:lstStyle/>
                    <a:p>
                      <a:pPr rtl="0">
                        <a:buNone/>
                      </a:pPr>
                      <a:r>
                        <a:rPr lang="en-IN" sz="800" b="1">
                          <a:solidFill>
                            <a:srgbClr val="1F1F1F"/>
                          </a:solidFill>
                          <a:effectLst/>
                          <a:latin typeface="Google Sans Text"/>
                        </a:rPr>
                        <a:t>16</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CC0101EN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Introduction to Cloud</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4,983</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64207913"/>
                  </a:ext>
                </a:extLst>
              </a:tr>
              <a:tr h="157324">
                <a:tc>
                  <a:txBody>
                    <a:bodyPr/>
                    <a:lstStyle/>
                    <a:p>
                      <a:pPr rtl="0">
                        <a:buNone/>
                      </a:pPr>
                      <a:r>
                        <a:rPr lang="en-IN" sz="800" b="1">
                          <a:solidFill>
                            <a:srgbClr val="1F1F1F"/>
                          </a:solidFill>
                          <a:effectLst/>
                          <a:latin typeface="Google Sans Text"/>
                        </a:rPr>
                        <a:t>17</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CO0101EN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Docker Essentials</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4,480</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32750103"/>
                  </a:ext>
                </a:extLst>
              </a:tr>
              <a:tr h="250648">
                <a:tc>
                  <a:txBody>
                    <a:bodyPr/>
                    <a:lstStyle/>
                    <a:p>
                      <a:pPr rtl="0">
                        <a:buNone/>
                      </a:pPr>
                      <a:r>
                        <a:rPr lang="en-IN" sz="800" b="1">
                          <a:solidFill>
                            <a:srgbClr val="1F1F1F"/>
                          </a:solidFill>
                          <a:effectLst/>
                          <a:latin typeface="Google Sans Text"/>
                        </a:rPr>
                        <a:t>18</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DB0101EN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GB" sz="800">
                          <a:solidFill>
                            <a:srgbClr val="1F1F1F"/>
                          </a:solidFill>
                          <a:effectLst/>
                          <a:latin typeface="Google Sans Text"/>
                        </a:rPr>
                        <a:t>SQL and Relational Databases 101</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3,697</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20732836"/>
                  </a:ext>
                </a:extLst>
              </a:tr>
              <a:tr h="157324">
                <a:tc>
                  <a:txBody>
                    <a:bodyPr/>
                    <a:lstStyle/>
                    <a:p>
                      <a:pPr rtl="0">
                        <a:buNone/>
                      </a:pPr>
                      <a:r>
                        <a:rPr lang="en-IN" sz="800" b="1">
                          <a:solidFill>
                            <a:srgbClr val="1F1F1F"/>
                          </a:solidFill>
                          <a:effectLst/>
                          <a:latin typeface="Google Sans Text"/>
                        </a:rPr>
                        <a:t>19</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BD0115EN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MapReduce and YARN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3,670</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04504243"/>
                  </a:ext>
                </a:extLst>
              </a:tr>
              <a:tr h="157324">
                <a:tc>
                  <a:txBody>
                    <a:bodyPr/>
                    <a:lstStyle/>
                    <a:p>
                      <a:pPr rtl="0">
                        <a:buNone/>
                      </a:pPr>
                      <a:r>
                        <a:rPr lang="en-IN" sz="800" b="1">
                          <a:solidFill>
                            <a:srgbClr val="1F1F1F"/>
                          </a:solidFill>
                          <a:effectLst/>
                          <a:latin typeface="Google Sans Text"/>
                        </a:rPr>
                        <a:t>20</a:t>
                      </a:r>
                      <a:endParaRPr lang="en-IN" sz="800">
                        <a:solidFill>
                          <a:srgbClr val="1F1F1F"/>
                        </a:solidFill>
                        <a:effectLst/>
                        <a:latin typeface="Google Sans Text"/>
                      </a:endParaRP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DS0301EN</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a:solidFill>
                            <a:srgbClr val="1F1F1F"/>
                          </a:solidFill>
                          <a:effectLst/>
                          <a:latin typeface="Google Sans Text"/>
                        </a:rPr>
                        <a:t>Data Science Capstone</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800" dirty="0">
                          <a:solidFill>
                            <a:srgbClr val="1F1F1F"/>
                          </a:solidFill>
                          <a:effectLst/>
                          <a:latin typeface="Google Sans Text"/>
                        </a:rPr>
                        <a:t>3,624</a:t>
                      </a:r>
                    </a:p>
                  </a:txBody>
                  <a:tcPr marL="39921" marR="39921" marT="26614" marB="2661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79952426"/>
                  </a:ext>
                </a:extLst>
              </a:tr>
            </a:tbl>
          </a:graphicData>
        </a:graphic>
      </p:graphicFrame>
      <p:sp>
        <p:nvSpPr>
          <p:cNvPr id="12" name="TextBox 11">
            <a:extLst>
              <a:ext uri="{FF2B5EF4-FFF2-40B4-BE49-F238E27FC236}">
                <a16:creationId xmlns:a16="http://schemas.microsoft.com/office/drawing/2014/main" id="{5112BDED-421E-48EE-4BB4-8AF13EC92BB7}"/>
              </a:ext>
            </a:extLst>
          </p:cNvPr>
          <p:cNvSpPr txBox="1"/>
          <p:nvPr/>
        </p:nvSpPr>
        <p:spPr>
          <a:xfrm>
            <a:off x="163286" y="5405417"/>
            <a:ext cx="12964886" cy="1015663"/>
          </a:xfrm>
          <a:prstGeom prst="rect">
            <a:avLst/>
          </a:prstGeom>
          <a:noFill/>
        </p:spPr>
        <p:txBody>
          <a:bodyPr wrap="square">
            <a:spAutoFit/>
          </a:bodyPr>
          <a:lstStyle/>
          <a:p>
            <a:pPr>
              <a:buNone/>
            </a:pPr>
            <a:r>
              <a:rPr lang="en-GB" sz="1200" b="1" dirty="0"/>
              <a:t>Core Themes of the Popular Curriculum</a:t>
            </a:r>
          </a:p>
          <a:p>
            <a:pPr>
              <a:buNone/>
            </a:pPr>
            <a:r>
              <a:rPr lang="en-GB" sz="1200" dirty="0"/>
              <a:t>The course list reveals three primary "gateways" for learners on the platform:</a:t>
            </a:r>
          </a:p>
          <a:p>
            <a:pPr>
              <a:buFont typeface="Arial" panose="020B0604020202020204" pitchFamily="34" charset="0"/>
              <a:buChar char="•"/>
            </a:pPr>
            <a:r>
              <a:rPr lang="en-GB" sz="1200" b="1" dirty="0"/>
              <a:t>The Python Foundation</a:t>
            </a:r>
            <a:r>
              <a:rPr lang="en-GB" sz="1200" dirty="0"/>
              <a:t>: </a:t>
            </a:r>
            <a:r>
              <a:rPr lang="en-GB" sz="1200" dirty="0">
                <a:latin typeface="Courier New" panose="02070309020205020404" pitchFamily="49" charset="0"/>
              </a:rPr>
              <a:t>PY0101EN</a:t>
            </a:r>
            <a:r>
              <a:rPr lang="en-GB" sz="1200" dirty="0"/>
              <a:t> is the #1 most popular course, serving as the dominant programming entry point for almost all other technical tracks.</a:t>
            </a:r>
          </a:p>
          <a:p>
            <a:pPr>
              <a:buFont typeface="Arial" panose="020B0604020202020204" pitchFamily="34" charset="0"/>
              <a:buChar char="•"/>
            </a:pPr>
            <a:r>
              <a:rPr lang="en-GB" sz="1200" b="1" dirty="0"/>
              <a:t>Data Science Pipeline</a:t>
            </a:r>
            <a:r>
              <a:rPr lang="en-GB" sz="1200" dirty="0"/>
              <a:t>: High </a:t>
            </a:r>
            <a:r>
              <a:rPr lang="en-GB" sz="1200" dirty="0" err="1"/>
              <a:t>enrollment</a:t>
            </a:r>
            <a:r>
              <a:rPr lang="en-GB" sz="1200" dirty="0"/>
              <a:t> in courses like </a:t>
            </a:r>
            <a:r>
              <a:rPr lang="en-GB" sz="1200" dirty="0">
                <a:latin typeface="Courier New" panose="02070309020205020404" pitchFamily="49" charset="0"/>
              </a:rPr>
              <a:t>DS0101EN</a:t>
            </a:r>
            <a:r>
              <a:rPr lang="en-GB" sz="1200" dirty="0"/>
              <a:t> (Intro) and </a:t>
            </a:r>
            <a:r>
              <a:rPr lang="en-GB" sz="1200" dirty="0">
                <a:latin typeface="Courier New" panose="02070309020205020404" pitchFamily="49" charset="0"/>
              </a:rPr>
              <a:t>DS0105EN</a:t>
            </a:r>
            <a:r>
              <a:rPr lang="en-GB" sz="1200" dirty="0"/>
              <a:t> (Methodology) suggests these are "anchor" courses for new learners starting their data careers.</a:t>
            </a:r>
          </a:p>
          <a:p>
            <a:pPr>
              <a:buFont typeface="Arial" panose="020B0604020202020204" pitchFamily="34" charset="0"/>
              <a:buChar char="•"/>
            </a:pPr>
            <a:r>
              <a:rPr lang="en-GB" sz="1200" b="1" dirty="0"/>
              <a:t>Big Data Infrastructure</a:t>
            </a:r>
            <a:r>
              <a:rPr lang="en-GB" sz="1200" dirty="0"/>
              <a:t>: A significant portion of the top tier is dedicated to large-scale processing, including </a:t>
            </a:r>
            <a:r>
              <a:rPr lang="en-GB" sz="1200" dirty="0">
                <a:latin typeface="Courier New" panose="02070309020205020404" pitchFamily="49" charset="0"/>
              </a:rPr>
              <a:t>BD0101EN</a:t>
            </a:r>
            <a:r>
              <a:rPr lang="en-GB" sz="1200" dirty="0"/>
              <a:t> (Big Data 101), </a:t>
            </a:r>
            <a:r>
              <a:rPr lang="en-GB" sz="1200" dirty="0">
                <a:latin typeface="Courier New" panose="02070309020205020404" pitchFamily="49" charset="0"/>
              </a:rPr>
              <a:t>BD0111EN</a:t>
            </a:r>
            <a:r>
              <a:rPr lang="en-GB" sz="1200" dirty="0"/>
              <a:t> (Hadoop), and </a:t>
            </a:r>
            <a:r>
              <a:rPr lang="en-GB" sz="1200" dirty="0">
                <a:latin typeface="Courier New" panose="02070309020205020404" pitchFamily="49" charset="0"/>
              </a:rPr>
              <a:t>BD0211EN</a:t>
            </a:r>
            <a:r>
              <a:rPr lang="en-GB" sz="1200" dirty="0"/>
              <a:t> (Spark).</a:t>
            </a:r>
          </a:p>
        </p:txBody>
      </p:sp>
    </p:spTree>
    <p:extLst>
      <p:ext uri="{BB962C8B-B14F-4D97-AF65-F5344CB8AC3E}">
        <p14:creationId xmlns:p14="http://schemas.microsoft.com/office/powerpoint/2010/main" val="281879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Word cloud of course titles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1008063" y="1045823"/>
            <a:ext cx="10515600" cy="5447051"/>
          </a:xfrm>
          <a:prstGeom prst="rect">
            <a:avLst/>
          </a:prstGeom>
          <a:ln>
            <a:solidFill>
              <a:srgbClr val="0B49CB"/>
            </a:solidFill>
            <a:prstDash val="dash"/>
          </a:ln>
        </p:spPr>
        <p:txBody>
          <a:bodyPr vert="horz" lIns="91440" tIns="45720" rIns="91440" bIns="45720" rtlCol="0" anchor="t">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b="1" dirty="0"/>
              <a:t>1. Primary Core Technologies</a:t>
            </a:r>
          </a:p>
          <a:p>
            <a:r>
              <a:rPr lang="en-GB" sz="2000" dirty="0"/>
              <a:t>The largest words represent the foundational pillars of this field:</a:t>
            </a:r>
          </a:p>
          <a:p>
            <a:r>
              <a:rPr lang="en-GB" sz="2000" b="1" dirty="0"/>
              <a:t>Python:</a:t>
            </a:r>
            <a:r>
              <a:rPr lang="en-GB" sz="2000" dirty="0"/>
              <a:t> The dominant programming language for data science and AI.</a:t>
            </a:r>
          </a:p>
          <a:p>
            <a:r>
              <a:rPr lang="en-GB" sz="2000" b="1" dirty="0"/>
              <a:t>Data Science &amp; Machine Learning:</a:t>
            </a:r>
            <a:r>
              <a:rPr lang="en-GB" sz="2000" dirty="0"/>
              <a:t> The overarching fields of study involving statistical </a:t>
            </a:r>
            <a:r>
              <a:rPr lang="en-GB" sz="2000" dirty="0" err="1"/>
              <a:t>modeling</a:t>
            </a:r>
            <a:r>
              <a:rPr lang="en-GB" sz="2000" dirty="0"/>
              <a:t> and predictive algorithms.</a:t>
            </a:r>
          </a:p>
          <a:p>
            <a:r>
              <a:rPr lang="en-GB" sz="2000" b="1" dirty="0"/>
              <a:t>Data Analysis:</a:t>
            </a:r>
            <a:r>
              <a:rPr lang="en-GB" sz="2000" dirty="0"/>
              <a:t> The process of cleaning, transforming, and </a:t>
            </a:r>
            <a:r>
              <a:rPr lang="en-GB" sz="2000" dirty="0" err="1"/>
              <a:t>modeling</a:t>
            </a:r>
            <a:r>
              <a:rPr lang="en-GB" sz="2000" dirty="0"/>
              <a:t> data to discover useful information.</a:t>
            </a:r>
          </a:p>
          <a:p>
            <a:pPr marL="0" indent="0">
              <a:buNone/>
            </a:pPr>
            <a:r>
              <a:rPr lang="en-GB" sz="2000" b="1" dirty="0"/>
              <a:t>2. Infrastructure and Deployment</a:t>
            </a:r>
          </a:p>
          <a:p>
            <a:r>
              <a:rPr lang="en-GB" sz="2000" dirty="0"/>
              <a:t>Many terms highlight how modern applications are built and managed:</a:t>
            </a:r>
          </a:p>
          <a:p>
            <a:r>
              <a:rPr lang="en-GB" sz="2000" b="1" dirty="0"/>
              <a:t>Cloud Computing &amp; IBM Cloud:</a:t>
            </a:r>
            <a:r>
              <a:rPr lang="en-GB" sz="2000" dirty="0"/>
              <a:t> References to hosting services and platforms.</a:t>
            </a:r>
          </a:p>
          <a:p>
            <a:r>
              <a:rPr lang="en-GB" sz="2000" b="1" dirty="0"/>
              <a:t>Microservices &amp; Kubernetes:</a:t>
            </a:r>
            <a:r>
              <a:rPr lang="en-GB" sz="2000" dirty="0"/>
              <a:t> Modern architectural styles where applications are broken into small, independent services managed by orchestration tools.</a:t>
            </a:r>
          </a:p>
          <a:p>
            <a:r>
              <a:rPr lang="en-GB" sz="2000" b="1" dirty="0"/>
              <a:t>Container &amp; Docker:</a:t>
            </a:r>
            <a:r>
              <a:rPr lang="en-GB" sz="2000" dirty="0"/>
              <a:t> Technologies used to package software so it runs reliably across different computing environments.</a:t>
            </a:r>
          </a:p>
          <a:p>
            <a:pPr marL="0" indent="0">
              <a:buNone/>
            </a:pPr>
            <a:r>
              <a:rPr lang="en-GB" sz="2000" b="1" dirty="0"/>
              <a:t>3. Big Data and Databases</a:t>
            </a:r>
          </a:p>
          <a:p>
            <a:r>
              <a:rPr lang="en-GB" sz="2000" dirty="0"/>
              <a:t>The image includes several tools used for handling massive amounts of information:</a:t>
            </a:r>
          </a:p>
          <a:p>
            <a:r>
              <a:rPr lang="en-GB" sz="2000" b="1" dirty="0"/>
              <a:t>Big Data &amp; Spark:</a:t>
            </a:r>
            <a:r>
              <a:rPr lang="en-GB" sz="2000" dirty="0"/>
              <a:t> Frameworks designed to process vast datasets across distributed computer clusters.</a:t>
            </a:r>
          </a:p>
          <a:p>
            <a:r>
              <a:rPr lang="en-GB" sz="2000" b="1" dirty="0"/>
              <a:t>SQL, NoSQL, &amp; PostgreSQL:</a:t>
            </a:r>
            <a:r>
              <a:rPr lang="en-GB" sz="2000" dirty="0"/>
              <a:t> Different types of database management systems used to store and query data.</a:t>
            </a:r>
          </a:p>
          <a:p>
            <a:r>
              <a:rPr lang="en-GB" sz="2000" b="1" dirty="0"/>
              <a:t>Hadoop:</a:t>
            </a:r>
            <a:r>
              <a:rPr lang="en-GB" sz="2000" dirty="0"/>
              <a:t> An older but foundational framework for distributed storage and processing.</a:t>
            </a:r>
          </a:p>
          <a:p>
            <a:pPr marL="0" indent="0">
              <a:buNone/>
            </a:pPr>
            <a:r>
              <a:rPr lang="en-GB" sz="2000" b="1" dirty="0"/>
              <a:t>4. Advanced AI Subfields</a:t>
            </a:r>
          </a:p>
          <a:p>
            <a:r>
              <a:rPr lang="en-GB" sz="2000" dirty="0"/>
              <a:t>Smaller but significant terms point to specialized areas of artificial intelligence:</a:t>
            </a:r>
          </a:p>
          <a:p>
            <a:r>
              <a:rPr lang="en-GB" sz="2000" b="1" dirty="0"/>
              <a:t>Deep Learning:</a:t>
            </a:r>
            <a:r>
              <a:rPr lang="en-GB" sz="2000" dirty="0"/>
              <a:t> A subset of machine learning based on artificial neural networks.</a:t>
            </a:r>
          </a:p>
          <a:p>
            <a:r>
              <a:rPr lang="en-GB" sz="2000" b="1" dirty="0"/>
              <a:t>TensorFlow:</a:t>
            </a:r>
            <a:r>
              <a:rPr lang="en-GB" sz="2000" dirty="0"/>
              <a:t> A popular library used specifically for building deep learning models.</a:t>
            </a:r>
          </a:p>
          <a:p>
            <a:r>
              <a:rPr lang="en-GB" sz="2000" b="1" dirty="0"/>
              <a:t>Computer Vision &amp; Natural Language Processing:</a:t>
            </a:r>
            <a:r>
              <a:rPr lang="en-GB" sz="2000" dirty="0"/>
              <a:t> Specialized fields focusing on how computers "see" images and "understand" human language</a:t>
            </a:r>
          </a:p>
          <a:p>
            <a:pPr marL="0" indent="0">
              <a:buNone/>
            </a:pPr>
            <a:endParaRPr lang="en-US" sz="2000" dirty="0">
              <a:solidFill>
                <a:srgbClr val="1C7DDB"/>
              </a:solidFill>
              <a:latin typeface="Abadi"/>
              <a:cs typeface="Calibri"/>
            </a:endParaRPr>
          </a:p>
        </p:txBody>
      </p:sp>
      <p:pic>
        <p:nvPicPr>
          <p:cNvPr id="3" name="Picture 2">
            <a:extLst>
              <a:ext uri="{FF2B5EF4-FFF2-40B4-BE49-F238E27FC236}">
                <a16:creationId xmlns:a16="http://schemas.microsoft.com/office/drawing/2014/main" id="{A40B08BD-9888-6D7E-3A3A-8EEF40B445CE}"/>
              </a:ext>
            </a:extLst>
          </p:cNvPr>
          <p:cNvPicPr>
            <a:picLocks noChangeAspect="1"/>
          </p:cNvPicPr>
          <p:nvPr/>
        </p:nvPicPr>
        <p:blipFill>
          <a:blip r:embed="rId2"/>
          <a:stretch>
            <a:fillRect/>
          </a:stretch>
        </p:blipFill>
        <p:spPr>
          <a:xfrm>
            <a:off x="5892853" y="3138602"/>
            <a:ext cx="5732410" cy="2953617"/>
          </a:xfrm>
          <a:prstGeom prst="rect">
            <a:avLst/>
          </a:prstGeom>
        </p:spPr>
      </p:pic>
    </p:spTree>
    <p:extLst>
      <p:ext uri="{BB962C8B-B14F-4D97-AF65-F5344CB8AC3E}">
        <p14:creationId xmlns:p14="http://schemas.microsoft.com/office/powerpoint/2010/main" val="1268933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Content-based Recommender System using Unsupervised Learning</a:t>
            </a:r>
            <a:endParaRPr lang="en-US" dirty="0"/>
          </a:p>
        </p:txBody>
      </p:sp>
      <p:grpSp>
        <p:nvGrpSpPr>
          <p:cNvPr id="6" name="Group 5">
            <a:extLst>
              <a:ext uri="{FF2B5EF4-FFF2-40B4-BE49-F238E27FC236}">
                <a16:creationId xmlns:a16="http://schemas.microsoft.com/office/drawing/2014/main" id="{3E5A2644-0171-6540-A231-9FCA3C81BFE2}"/>
              </a:ext>
            </a:extLst>
          </p:cNvPr>
          <p:cNvGrpSpPr/>
          <p:nvPr/>
        </p:nvGrpSpPr>
        <p:grpSpPr>
          <a:xfrm>
            <a:off x="10108253" y="4562475"/>
            <a:ext cx="1777449" cy="1936444"/>
            <a:chOff x="6518030" y="1903899"/>
            <a:chExt cx="1777449" cy="1936444"/>
          </a:xfrm>
        </p:grpSpPr>
        <p:grpSp>
          <p:nvGrpSpPr>
            <p:cNvPr id="11" name="Group 10">
              <a:extLst>
                <a:ext uri="{FF2B5EF4-FFF2-40B4-BE49-F238E27FC236}">
                  <a16:creationId xmlns:a16="http://schemas.microsoft.com/office/drawing/2014/main" id="{A41B8904-28C2-BB44-8166-C42C96ED6936}"/>
                </a:ext>
              </a:extLst>
            </p:cNvPr>
            <p:cNvGrpSpPr/>
            <p:nvPr/>
          </p:nvGrpSpPr>
          <p:grpSpPr>
            <a:xfrm>
              <a:off x="6580009" y="2268106"/>
              <a:ext cx="1530912" cy="1268847"/>
              <a:chOff x="6371670" y="1861616"/>
              <a:chExt cx="1530912" cy="1268847"/>
            </a:xfrm>
          </p:grpSpPr>
          <p:grpSp>
            <p:nvGrpSpPr>
              <p:cNvPr id="12" name="Group 11">
                <a:extLst>
                  <a:ext uri="{FF2B5EF4-FFF2-40B4-BE49-F238E27FC236}">
                    <a16:creationId xmlns:a16="http://schemas.microsoft.com/office/drawing/2014/main" id="{7636D0BA-2B52-A240-B7B8-0256F4E2A394}"/>
                  </a:ext>
                </a:extLst>
              </p:cNvPr>
              <p:cNvGrpSpPr/>
              <p:nvPr/>
            </p:nvGrpSpPr>
            <p:grpSpPr>
              <a:xfrm>
                <a:off x="6371670" y="2318149"/>
                <a:ext cx="812314" cy="812314"/>
                <a:chOff x="1306239" y="1551525"/>
                <a:chExt cx="2116181" cy="2116182"/>
              </a:xfrm>
              <a:noFill/>
            </p:grpSpPr>
            <p:sp>
              <p:nvSpPr>
                <p:cNvPr id="25" name="Oval 24">
                  <a:extLst>
                    <a:ext uri="{FF2B5EF4-FFF2-40B4-BE49-F238E27FC236}">
                      <a16:creationId xmlns:a16="http://schemas.microsoft.com/office/drawing/2014/main" id="{24F59816-7FAC-974F-A8D7-19B047D553D1}"/>
                    </a:ext>
                  </a:extLst>
                </p:cNvPr>
                <p:cNvSpPr/>
                <p:nvPr/>
              </p:nvSpPr>
              <p:spPr>
                <a:xfrm>
                  <a:off x="1306239" y="1551525"/>
                  <a:ext cx="2116181"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C838075-FE41-3C47-B7F8-7CD30B06125D}"/>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57CEC24-7385-FC49-A319-AB8C2130A10A}"/>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BC96BD4-7E7A-8445-86C6-6BF36139BBEF}"/>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72FE188-017A-B643-9B83-F2A767174EFF}"/>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A566CA9-49EE-AB41-83BE-DE726A76CE6A}"/>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F5C28428-062D-E14C-82E6-DA94F7EF31AB}"/>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69CEB11-DD69-474E-BBAE-8C10177D3C3F}"/>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E68BDB6-C52E-DD4A-B920-6CBEF8EE3F5F}"/>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6BE7FA6-4444-D940-BE86-2E836B237A97}"/>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53476B79-2F43-EC40-8768-FE48D7B6AA2E}"/>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179D4550-5CE1-9E49-9733-CBA34FE0DD54}"/>
                  </a:ext>
                </a:extLst>
              </p:cNvPr>
              <p:cNvGrpSpPr/>
              <p:nvPr/>
            </p:nvGrpSpPr>
            <p:grpSpPr>
              <a:xfrm>
                <a:off x="7090268" y="1861616"/>
                <a:ext cx="812314" cy="812314"/>
                <a:chOff x="1306241" y="1551525"/>
                <a:chExt cx="2116182" cy="2116182"/>
              </a:xfrm>
              <a:noFill/>
            </p:grpSpPr>
            <p:sp>
              <p:nvSpPr>
                <p:cNvPr id="14" name="Oval 13">
                  <a:extLst>
                    <a:ext uri="{FF2B5EF4-FFF2-40B4-BE49-F238E27FC236}">
                      <a16:creationId xmlns:a16="http://schemas.microsoft.com/office/drawing/2014/main" id="{3EDBC5E1-AEE7-2A4C-9CCE-D6FE884FE831}"/>
                    </a:ext>
                  </a:extLst>
                </p:cNvPr>
                <p:cNvSpPr/>
                <p:nvPr/>
              </p:nvSpPr>
              <p:spPr>
                <a:xfrm>
                  <a:off x="1306241" y="1551525"/>
                  <a:ext cx="2116182"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7DE73D3B-6172-AD4A-8114-5DA3984DA6B8}"/>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62E44D-FBA1-D543-B29E-3BD27B00E509}"/>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6257EEC-3C03-0546-9ACD-4DCDB1819397}"/>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8325B40-CC4B-6445-8AA8-D6AA369D34A4}"/>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0369C21-DFFB-4B46-A1A5-A3B9B2BD5D3D}"/>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4155E267-602E-DA43-8ADA-80A77E2F6BAA}"/>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EFCDA0-8E24-3F4E-9729-B109832A37F5}"/>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01B9D4C-4986-CE4F-AAC2-0B2B3DE03C87}"/>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3D505A4-48AE-AC40-87FA-FC0E50F6B75A}"/>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3F6A3959-23EF-B243-97DE-A3CBF9EE4626}"/>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extBox 7">
              <a:extLst>
                <a:ext uri="{FF2B5EF4-FFF2-40B4-BE49-F238E27FC236}">
                  <a16:creationId xmlns:a16="http://schemas.microsoft.com/office/drawing/2014/main" id="{D36FFD52-F70F-854D-8DC1-D1F09F5ACAD2}"/>
                </a:ext>
              </a:extLst>
            </p:cNvPr>
            <p:cNvSpPr txBox="1"/>
            <p:nvPr/>
          </p:nvSpPr>
          <p:spPr>
            <a:xfrm>
              <a:off x="6518030" y="3471011"/>
              <a:ext cx="1072730" cy="369332"/>
            </a:xfrm>
            <a:prstGeom prst="rect">
              <a:avLst/>
            </a:prstGeom>
            <a:noFill/>
          </p:spPr>
          <p:txBody>
            <a:bodyPr wrap="none" rtlCol="0">
              <a:spAutoFit/>
            </a:bodyPr>
            <a:lstStyle/>
            <a:p>
              <a:r>
                <a:rPr lang="en-US" dirty="0"/>
                <a:t>Cluster1</a:t>
              </a:r>
            </a:p>
          </p:txBody>
        </p:sp>
        <p:sp>
          <p:nvSpPr>
            <p:cNvPr id="9" name="TextBox 8">
              <a:extLst>
                <a:ext uri="{FF2B5EF4-FFF2-40B4-BE49-F238E27FC236}">
                  <a16:creationId xmlns:a16="http://schemas.microsoft.com/office/drawing/2014/main" id="{81858FD9-B27C-0C44-8B7A-44D908A27760}"/>
                </a:ext>
              </a:extLst>
            </p:cNvPr>
            <p:cNvSpPr txBox="1"/>
            <p:nvPr/>
          </p:nvSpPr>
          <p:spPr>
            <a:xfrm>
              <a:off x="7222749" y="1903899"/>
              <a:ext cx="1072730" cy="369332"/>
            </a:xfrm>
            <a:prstGeom prst="rect">
              <a:avLst/>
            </a:prstGeom>
            <a:noFill/>
          </p:spPr>
          <p:txBody>
            <a:bodyPr wrap="none" rtlCol="0">
              <a:spAutoFit/>
            </a:bodyPr>
            <a:lstStyle/>
            <a:p>
              <a:r>
                <a:rPr lang="en-US" dirty="0"/>
                <a:t>Cluster2</a:t>
              </a:r>
            </a:p>
          </p:txBody>
        </p:sp>
      </p:grpSp>
    </p:spTree>
    <p:extLst>
      <p:ext uri="{BB962C8B-B14F-4D97-AF65-F5344CB8AC3E}">
        <p14:creationId xmlns:p14="http://schemas.microsoft.com/office/powerpoint/2010/main" val="134853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2000" b="1" u="sng" dirty="0">
                <a:solidFill>
                  <a:srgbClr val="FF0000"/>
                </a:solidFill>
                <a:latin typeface="Abadi"/>
              </a:rPr>
              <a:t>Flowchart of content-based recommender system using user profile and course genres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388028"/>
            <a:ext cx="10515600" cy="4011746"/>
          </a:xfrm>
          <a:prstGeom prst="rect">
            <a:avLst/>
          </a:prstGeom>
          <a:ln>
            <a:solidFill>
              <a:srgbClr val="0B49CB"/>
            </a:solidFill>
            <a:prstDash val="dash"/>
          </a:ln>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None/>
            </a:pPr>
            <a:r>
              <a:rPr lang="en-GB" sz="2000" dirty="0">
                <a:solidFill>
                  <a:srgbClr val="1C7DDB"/>
                </a:solidFill>
                <a:latin typeface="Abadi"/>
              </a:rPr>
              <a:t>Step 1: Data Preparation : Load the course genre dataset (containing binary indicators for topics like Python, Database, etc.) and user </a:t>
            </a:r>
            <a:r>
              <a:rPr lang="en-GB" sz="2000" dirty="0" err="1">
                <a:solidFill>
                  <a:srgbClr val="1C7DDB"/>
                </a:solidFill>
                <a:latin typeface="Abadi"/>
              </a:rPr>
              <a:t>enrollment</a:t>
            </a:r>
            <a:r>
              <a:rPr lang="en-GB" sz="2000" dirty="0">
                <a:solidFill>
                  <a:srgbClr val="1C7DDB"/>
                </a:solidFill>
                <a:latin typeface="Abadi"/>
              </a:rPr>
              <a:t>/rating data.</a:t>
            </a:r>
          </a:p>
          <a:p>
            <a:pPr marL="0" indent="0">
              <a:buNone/>
            </a:pPr>
            <a:r>
              <a:rPr lang="en-GB" sz="2000" dirty="0">
                <a:solidFill>
                  <a:srgbClr val="1C7DDB"/>
                </a:solidFill>
                <a:latin typeface="Abadi"/>
              </a:rPr>
              <a:t>Step 2: Generate User Profile Vectors : A user profile is mathematically represented as a feature vector. This is created by multiplying the user's rating vector with the course genre matrix to quantify their interests in specific genres.</a:t>
            </a:r>
          </a:p>
          <a:p>
            <a:pPr marL="0" indent="0">
              <a:buNone/>
            </a:pPr>
            <a:r>
              <a:rPr lang="en-GB" sz="2000" dirty="0">
                <a:solidFill>
                  <a:srgbClr val="1C7DDB"/>
                </a:solidFill>
                <a:latin typeface="Abadi"/>
              </a:rPr>
              <a:t>Step 3: Identify Unknown Courses :  The system identifies courses from the full </a:t>
            </a:r>
            <a:r>
              <a:rPr lang="en-GB" sz="2000" dirty="0" err="1">
                <a:solidFill>
                  <a:srgbClr val="1C7DDB"/>
                </a:solidFill>
                <a:latin typeface="Abadi"/>
              </a:rPr>
              <a:t>catalog</a:t>
            </a:r>
            <a:r>
              <a:rPr lang="en-GB" sz="2000" dirty="0">
                <a:solidFill>
                  <a:srgbClr val="1C7DDB"/>
                </a:solidFill>
                <a:latin typeface="Abadi"/>
              </a:rPr>
              <a:t> that the user has not yet enrolled in.</a:t>
            </a:r>
          </a:p>
          <a:p>
            <a:pPr marL="0" indent="0">
              <a:buNone/>
            </a:pPr>
            <a:r>
              <a:rPr lang="en-GB" sz="2000" dirty="0">
                <a:solidFill>
                  <a:srgbClr val="1C7DDB"/>
                </a:solidFill>
                <a:latin typeface="Abadi"/>
              </a:rPr>
              <a:t>Step 4: Calculate Recommendation Scores :The system computes the dot product between the User Profile Vector and the Course Genre Vectors of all unknown courses. A high dot product indicates that the course features align strongly with the user's established preferences.</a:t>
            </a:r>
          </a:p>
          <a:p>
            <a:pPr marL="0" indent="0">
              <a:buNone/>
            </a:pPr>
            <a:endParaRPr lang="en-GB" sz="2000" dirty="0">
              <a:solidFill>
                <a:srgbClr val="1C7DDB"/>
              </a:solidFill>
              <a:latin typeface="Abadi"/>
            </a:endParaRPr>
          </a:p>
          <a:p>
            <a:pPr marL="0" indent="0">
              <a:buNone/>
            </a:pPr>
            <a:r>
              <a:rPr lang="en-GB" sz="2000" dirty="0">
                <a:solidFill>
                  <a:srgbClr val="1C7DDB"/>
                </a:solidFill>
                <a:latin typeface="Abadi"/>
              </a:rPr>
              <a:t>Step 5: Filter and Recommend : A score threshold (e.g., 10.0) is applied to the results. Only courses meeting or exceeding this threshold are returned as personalized recommendations to ensure high confidence and relevance.</a:t>
            </a:r>
            <a:endParaRPr lang="en-US" sz="2000" dirty="0">
              <a:solidFill>
                <a:srgbClr val="1C7DDB"/>
              </a:solidFill>
              <a:latin typeface="Abad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4336174"/>
            <a:ext cx="1645920" cy="80188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Identify Unknown Courses</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Data Preparation</a:t>
            </a:r>
            <a:endParaRPr lang="en-US" dirty="0">
              <a:solidFill>
                <a:schemeClr val="tx1"/>
              </a:solidFill>
            </a:endParaRPr>
          </a:p>
        </p:txBody>
      </p:sp>
      <p:sp>
        <p:nvSpPr>
          <p:cNvPr id="10" name="Rectangle 9">
            <a:extLst>
              <a:ext uri="{FF2B5EF4-FFF2-40B4-BE49-F238E27FC236}">
                <a16:creationId xmlns:a16="http://schemas.microsoft.com/office/drawing/2014/main" id="{BC66C45B-081E-7045-A932-30AF89330AF5}"/>
              </a:ext>
            </a:extLst>
          </p:cNvPr>
          <p:cNvSpPr/>
          <p:nvPr/>
        </p:nvSpPr>
        <p:spPr>
          <a:xfrm>
            <a:off x="3013083"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Generate User Profile Vectors</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4273610"/>
            <a:ext cx="1840766" cy="9406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Calculate Recommendation Scores</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4049487"/>
            <a:ext cx="1645920" cy="108856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Filter and Recommend</a:t>
            </a:r>
            <a:endParaRPr lang="en-US" dirty="0">
              <a:solidFill>
                <a:schemeClr val="tx1"/>
              </a:solidFill>
            </a:endParaRP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7654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a:xfrm>
            <a:off x="838199" y="365125"/>
            <a:ext cx="11146971" cy="1325563"/>
          </a:xfrm>
        </p:spPr>
        <p:txBody>
          <a:bodyPr/>
          <a:lstStyle/>
          <a:p>
            <a:r>
              <a:rPr lang="en-US" sz="3000" dirty="0">
                <a:solidFill>
                  <a:srgbClr val="0B49CB"/>
                </a:solidFill>
                <a:latin typeface="Abadi"/>
              </a:rPr>
              <a:t>Evaluation results of the user profile-based recommender system</a:t>
            </a: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933834" y="4082143"/>
            <a:ext cx="4720206" cy="2171246"/>
          </a:xfrm>
          <a:prstGeom prst="rect">
            <a:avLst/>
          </a:prstGeom>
          <a:ln>
            <a:solidFill>
              <a:srgbClr val="0B49CB"/>
            </a:solidFill>
            <a:prstDash val="dash"/>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r>
              <a:rPr lang="en-GB" sz="2000" dirty="0"/>
              <a:t>On average, approximately </a:t>
            </a:r>
            <a:r>
              <a:rPr lang="en-GB" sz="2000" b="1" dirty="0"/>
              <a:t>44.26</a:t>
            </a:r>
            <a:r>
              <a:rPr lang="en-GB" sz="2000" dirty="0"/>
              <a:t> new/unseen courses were recommended per user in the test dataset.</a:t>
            </a:r>
            <a:endParaRPr lang="en-US" sz="2400" dirty="0">
              <a:cs typeface="Calibri"/>
            </a:endParaRPr>
          </a:p>
        </p:txBody>
      </p:sp>
      <p:graphicFrame>
        <p:nvGraphicFramePr>
          <p:cNvPr id="2" name="Table 1">
            <a:extLst>
              <a:ext uri="{FF2B5EF4-FFF2-40B4-BE49-F238E27FC236}">
                <a16:creationId xmlns:a16="http://schemas.microsoft.com/office/drawing/2014/main" id="{82EE2C20-6B14-AAF6-060E-476975B76EED}"/>
              </a:ext>
            </a:extLst>
          </p:cNvPr>
          <p:cNvGraphicFramePr>
            <a:graphicFrameLocks noGrp="1"/>
          </p:cNvGraphicFramePr>
          <p:nvPr>
            <p:extLst>
              <p:ext uri="{D42A27DB-BD31-4B8C-83A1-F6EECF244321}">
                <p14:modId xmlns:p14="http://schemas.microsoft.com/office/powerpoint/2010/main" val="3836814747"/>
              </p:ext>
            </p:extLst>
          </p:nvPr>
        </p:nvGraphicFramePr>
        <p:xfrm>
          <a:off x="1415143" y="744289"/>
          <a:ext cx="9350829" cy="3383280"/>
        </p:xfrm>
        <a:graphic>
          <a:graphicData uri="http://schemas.openxmlformats.org/drawingml/2006/table">
            <a:tbl>
              <a:tblPr/>
              <a:tblGrid>
                <a:gridCol w="3116943">
                  <a:extLst>
                    <a:ext uri="{9D8B030D-6E8A-4147-A177-3AD203B41FA5}">
                      <a16:colId xmlns:a16="http://schemas.microsoft.com/office/drawing/2014/main" val="563497059"/>
                    </a:ext>
                  </a:extLst>
                </a:gridCol>
                <a:gridCol w="3116943">
                  <a:extLst>
                    <a:ext uri="{9D8B030D-6E8A-4147-A177-3AD203B41FA5}">
                      <a16:colId xmlns:a16="http://schemas.microsoft.com/office/drawing/2014/main" val="2744380678"/>
                    </a:ext>
                  </a:extLst>
                </a:gridCol>
                <a:gridCol w="3116943">
                  <a:extLst>
                    <a:ext uri="{9D8B030D-6E8A-4147-A177-3AD203B41FA5}">
                      <a16:colId xmlns:a16="http://schemas.microsoft.com/office/drawing/2014/main" val="1192166638"/>
                    </a:ext>
                  </a:extLst>
                </a:gridCol>
              </a:tblGrid>
              <a:tr h="0">
                <a:tc>
                  <a:txBody>
                    <a:bodyPr/>
                    <a:lstStyle/>
                    <a:p>
                      <a:pPr>
                        <a:buNone/>
                      </a:pPr>
                      <a:r>
                        <a:rPr lang="en-IN" b="1" dirty="0">
                          <a:solidFill>
                            <a:schemeClr val="accent2">
                              <a:lumMod val="60000"/>
                              <a:lumOff val="40000"/>
                            </a:schemeClr>
                          </a:solidFill>
                        </a:rPr>
                        <a:t>Hyper-parameter</a:t>
                      </a:r>
                    </a:p>
                  </a:txBody>
                  <a:tcPr anchor="ctr">
                    <a:lnL>
                      <a:noFill/>
                    </a:lnL>
                    <a:lnR>
                      <a:noFill/>
                    </a:lnR>
                    <a:lnT>
                      <a:noFill/>
                    </a:lnT>
                    <a:lnB>
                      <a:noFill/>
                    </a:lnB>
                    <a:noFill/>
                  </a:tcPr>
                </a:tc>
                <a:tc>
                  <a:txBody>
                    <a:bodyPr/>
                    <a:lstStyle/>
                    <a:p>
                      <a:pPr>
                        <a:buNone/>
                      </a:pPr>
                      <a:r>
                        <a:rPr lang="en-IN" b="1" dirty="0">
                          <a:solidFill>
                            <a:schemeClr val="accent2">
                              <a:lumMod val="60000"/>
                              <a:lumOff val="40000"/>
                            </a:schemeClr>
                          </a:solidFill>
                        </a:rPr>
                        <a:t>Setting</a:t>
                      </a:r>
                    </a:p>
                  </a:txBody>
                  <a:tcPr anchor="ctr">
                    <a:lnL>
                      <a:noFill/>
                    </a:lnL>
                    <a:lnR>
                      <a:noFill/>
                    </a:lnR>
                    <a:lnT>
                      <a:noFill/>
                    </a:lnT>
                    <a:lnB>
                      <a:noFill/>
                    </a:lnB>
                    <a:noFill/>
                  </a:tcPr>
                </a:tc>
                <a:tc>
                  <a:txBody>
                    <a:bodyPr/>
                    <a:lstStyle/>
                    <a:p>
                      <a:pPr>
                        <a:buNone/>
                      </a:pPr>
                      <a:r>
                        <a:rPr lang="en-IN" b="1" dirty="0">
                          <a:solidFill>
                            <a:schemeClr val="accent2">
                              <a:lumMod val="60000"/>
                              <a:lumOff val="40000"/>
                            </a:schemeClr>
                          </a:solidFill>
                        </a:rPr>
                        <a:t>Description</a:t>
                      </a:r>
                    </a:p>
                  </a:txBody>
                  <a:tcPr anchor="ctr">
                    <a:lnL>
                      <a:noFill/>
                    </a:lnL>
                    <a:lnR>
                      <a:noFill/>
                    </a:lnR>
                    <a:lnT>
                      <a:noFill/>
                    </a:lnT>
                    <a:lnB>
                      <a:noFill/>
                    </a:lnB>
                    <a:noFill/>
                  </a:tcPr>
                </a:tc>
                <a:extLst>
                  <a:ext uri="{0D108BD9-81ED-4DB2-BD59-A6C34878D82A}">
                    <a16:rowId xmlns:a16="http://schemas.microsoft.com/office/drawing/2014/main" val="1002871228"/>
                  </a:ext>
                </a:extLst>
              </a:tr>
              <a:tr h="0">
                <a:tc>
                  <a:txBody>
                    <a:bodyPr/>
                    <a:lstStyle/>
                    <a:p>
                      <a:pPr>
                        <a:buNone/>
                      </a:pPr>
                      <a:r>
                        <a:rPr lang="en-IN" b="1" dirty="0"/>
                        <a:t>Score Threshold</a:t>
                      </a:r>
                      <a:endParaRPr lang="en-IN" dirty="0"/>
                    </a:p>
                  </a:txBody>
                  <a:tcPr anchor="ctr">
                    <a:lnL>
                      <a:noFill/>
                    </a:lnL>
                    <a:lnR>
                      <a:noFill/>
                    </a:lnR>
                    <a:lnT>
                      <a:noFill/>
                    </a:lnT>
                    <a:lnB>
                      <a:noFill/>
                    </a:lnB>
                    <a:noFill/>
                  </a:tcPr>
                </a:tc>
                <a:tc>
                  <a:txBody>
                    <a:bodyPr/>
                    <a:lstStyle/>
                    <a:p>
                      <a:pPr>
                        <a:buNone/>
                      </a:pPr>
                      <a:r>
                        <a:rPr lang="en-IN" b="1" dirty="0"/>
                        <a:t>10.0</a:t>
                      </a:r>
                      <a:endParaRPr lang="en-IN" dirty="0"/>
                    </a:p>
                  </a:txBody>
                  <a:tcPr anchor="ctr">
                    <a:lnL>
                      <a:noFill/>
                    </a:lnL>
                    <a:lnR>
                      <a:noFill/>
                    </a:lnR>
                    <a:lnT>
                      <a:noFill/>
                    </a:lnT>
                    <a:lnB>
                      <a:noFill/>
                    </a:lnB>
                    <a:noFill/>
                  </a:tcPr>
                </a:tc>
                <a:tc>
                  <a:txBody>
                    <a:bodyPr/>
                    <a:lstStyle/>
                    <a:p>
                      <a:pPr>
                        <a:buNone/>
                      </a:pPr>
                      <a:r>
                        <a:rPr lang="en-GB" dirty="0"/>
                        <a:t>Only courses with a recommendation score ≥10.0 are selected for the user.</a:t>
                      </a:r>
                    </a:p>
                  </a:txBody>
                  <a:tcPr anchor="ctr">
                    <a:lnL>
                      <a:noFill/>
                    </a:lnL>
                    <a:lnR>
                      <a:noFill/>
                    </a:lnR>
                    <a:lnT>
                      <a:noFill/>
                    </a:lnT>
                    <a:lnB>
                      <a:noFill/>
                    </a:lnB>
                    <a:noFill/>
                  </a:tcPr>
                </a:tc>
                <a:extLst>
                  <a:ext uri="{0D108BD9-81ED-4DB2-BD59-A6C34878D82A}">
                    <a16:rowId xmlns:a16="http://schemas.microsoft.com/office/drawing/2014/main" val="1528299953"/>
                  </a:ext>
                </a:extLst>
              </a:tr>
              <a:tr h="0">
                <a:tc>
                  <a:txBody>
                    <a:bodyPr/>
                    <a:lstStyle/>
                    <a:p>
                      <a:pPr>
                        <a:buNone/>
                      </a:pPr>
                      <a:r>
                        <a:rPr lang="en-IN" b="1" dirty="0"/>
                        <a:t>Random State</a:t>
                      </a:r>
                      <a:endParaRPr lang="en-IN" dirty="0"/>
                    </a:p>
                  </a:txBody>
                  <a:tcPr anchor="ctr">
                    <a:lnL>
                      <a:noFill/>
                    </a:lnL>
                    <a:lnR>
                      <a:noFill/>
                    </a:lnR>
                    <a:lnT>
                      <a:noFill/>
                    </a:lnT>
                    <a:lnB>
                      <a:noFill/>
                    </a:lnB>
                    <a:noFill/>
                  </a:tcPr>
                </a:tc>
                <a:tc>
                  <a:txBody>
                    <a:bodyPr/>
                    <a:lstStyle/>
                    <a:p>
                      <a:pPr>
                        <a:buNone/>
                      </a:pPr>
                      <a:r>
                        <a:rPr lang="en-IN" b="1"/>
                        <a:t>123</a:t>
                      </a:r>
                      <a:endParaRPr lang="en-IN"/>
                    </a:p>
                  </a:txBody>
                  <a:tcPr anchor="ctr">
                    <a:lnL>
                      <a:noFill/>
                    </a:lnL>
                    <a:lnR>
                      <a:noFill/>
                    </a:lnR>
                    <a:lnT>
                      <a:noFill/>
                    </a:lnT>
                    <a:lnB>
                      <a:noFill/>
                    </a:lnB>
                    <a:noFill/>
                  </a:tcPr>
                </a:tc>
                <a:tc>
                  <a:txBody>
                    <a:bodyPr/>
                    <a:lstStyle/>
                    <a:p>
                      <a:pPr>
                        <a:buNone/>
                      </a:pPr>
                      <a:r>
                        <a:rPr lang="en-GB"/>
                        <a:t>Used to ensure reproducibility of results throughout the notebook.</a:t>
                      </a:r>
                    </a:p>
                  </a:txBody>
                  <a:tcPr anchor="ctr">
                    <a:lnL>
                      <a:noFill/>
                    </a:lnL>
                    <a:lnR>
                      <a:noFill/>
                    </a:lnR>
                    <a:lnT>
                      <a:noFill/>
                    </a:lnT>
                    <a:lnB>
                      <a:noFill/>
                    </a:lnB>
                    <a:noFill/>
                  </a:tcPr>
                </a:tc>
                <a:extLst>
                  <a:ext uri="{0D108BD9-81ED-4DB2-BD59-A6C34878D82A}">
                    <a16:rowId xmlns:a16="http://schemas.microsoft.com/office/drawing/2014/main" val="1168148569"/>
                  </a:ext>
                </a:extLst>
              </a:tr>
              <a:tr h="0">
                <a:tc>
                  <a:txBody>
                    <a:bodyPr/>
                    <a:lstStyle/>
                    <a:p>
                      <a:pPr>
                        <a:buNone/>
                      </a:pPr>
                      <a:r>
                        <a:rPr lang="en-IN" b="1" dirty="0"/>
                        <a:t>Recommendation Limit</a:t>
                      </a:r>
                      <a:endParaRPr lang="en-IN" dirty="0"/>
                    </a:p>
                  </a:txBody>
                  <a:tcPr anchor="ctr">
                    <a:lnL>
                      <a:noFill/>
                    </a:lnL>
                    <a:lnR>
                      <a:noFill/>
                    </a:lnR>
                    <a:lnT>
                      <a:noFill/>
                    </a:lnT>
                    <a:lnB>
                      <a:noFill/>
                    </a:lnB>
                    <a:noFill/>
                  </a:tcPr>
                </a:tc>
                <a:tc>
                  <a:txBody>
                    <a:bodyPr/>
                    <a:lstStyle/>
                    <a:p>
                      <a:pPr>
                        <a:buNone/>
                      </a:pPr>
                      <a:r>
                        <a:rPr lang="en-IN" b="1" dirty="0"/>
                        <a:t>&lt; 20 courses</a:t>
                      </a:r>
                      <a:endParaRPr lang="en-IN" dirty="0"/>
                    </a:p>
                  </a:txBody>
                  <a:tcPr anchor="ctr">
                    <a:lnL>
                      <a:noFill/>
                    </a:lnL>
                    <a:lnR>
                      <a:noFill/>
                    </a:lnR>
                    <a:lnT>
                      <a:noFill/>
                    </a:lnT>
                    <a:lnB>
                      <a:noFill/>
                    </a:lnB>
                    <a:noFill/>
                  </a:tcPr>
                </a:tc>
                <a:tc>
                  <a:txBody>
                    <a:bodyPr/>
                    <a:lstStyle/>
                    <a:p>
                      <a:pPr>
                        <a:buNone/>
                      </a:pPr>
                      <a:r>
                        <a:rPr lang="en-GB" dirty="0"/>
                        <a:t>An ideal constraint mentioned to prevent overwhelming the user with too many suggestions.</a:t>
                      </a:r>
                    </a:p>
                  </a:txBody>
                  <a:tcPr anchor="ctr">
                    <a:lnL>
                      <a:noFill/>
                    </a:lnL>
                    <a:lnR>
                      <a:noFill/>
                    </a:lnR>
                    <a:lnT>
                      <a:noFill/>
                    </a:lnT>
                    <a:lnB>
                      <a:noFill/>
                    </a:lnB>
                    <a:noFill/>
                  </a:tcPr>
                </a:tc>
                <a:extLst>
                  <a:ext uri="{0D108BD9-81ED-4DB2-BD59-A6C34878D82A}">
                    <a16:rowId xmlns:a16="http://schemas.microsoft.com/office/drawing/2014/main" val="112471057"/>
                  </a:ext>
                </a:extLst>
              </a:tr>
            </a:tbl>
          </a:graphicData>
        </a:graphic>
      </p:graphicFrame>
      <p:sp>
        <p:nvSpPr>
          <p:cNvPr id="3" name="Content Placeholder 4">
            <a:extLst>
              <a:ext uri="{FF2B5EF4-FFF2-40B4-BE49-F238E27FC236}">
                <a16:creationId xmlns:a16="http://schemas.microsoft.com/office/drawing/2014/main" id="{35EE4F53-3B94-9A9F-6E98-4E17A1038316}"/>
              </a:ext>
            </a:extLst>
          </p:cNvPr>
          <p:cNvSpPr txBox="1">
            <a:spLocks/>
          </p:cNvSpPr>
          <p:nvPr/>
        </p:nvSpPr>
        <p:spPr>
          <a:xfrm>
            <a:off x="5812971" y="4103912"/>
            <a:ext cx="5780315" cy="2754088"/>
          </a:xfrm>
          <a:prstGeom prst="rect">
            <a:avLst/>
          </a:prstGeom>
          <a:ln>
            <a:solidFill>
              <a:srgbClr val="0B49CB"/>
            </a:solidFill>
            <a:prstDash val="dash"/>
          </a:ln>
        </p:spPr>
        <p:txBody>
          <a:bodyPr vert="horz" lIns="91440" tIns="45720" rIns="91440" bIns="45720" rtlCol="0" anchor="t">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lnSpc>
                <a:spcPct val="120000"/>
              </a:lnSpc>
              <a:buNone/>
            </a:pPr>
            <a:r>
              <a:rPr lang="en-GB" sz="4800" dirty="0"/>
              <a:t>The following are the top-10 most frequently recommended courses across all test users:</a:t>
            </a:r>
          </a:p>
          <a:p>
            <a:pPr marL="0" indent="0">
              <a:lnSpc>
                <a:spcPct val="120000"/>
              </a:lnSpc>
              <a:spcBef>
                <a:spcPts val="0"/>
              </a:spcBef>
              <a:buNone/>
            </a:pPr>
            <a:r>
              <a:rPr lang="en-GB" sz="4800" dirty="0"/>
              <a:t>    TA0106EN: 17,390 recommendations</a:t>
            </a:r>
          </a:p>
          <a:p>
            <a:pPr marL="0" indent="0">
              <a:lnSpc>
                <a:spcPct val="120000"/>
              </a:lnSpc>
              <a:spcBef>
                <a:spcPts val="0"/>
              </a:spcBef>
              <a:buNone/>
            </a:pPr>
            <a:r>
              <a:rPr lang="en-GB" sz="4800" dirty="0"/>
              <a:t>    excourse22: 15,656 recommendations</a:t>
            </a:r>
          </a:p>
          <a:p>
            <a:pPr marL="0" indent="0">
              <a:lnSpc>
                <a:spcPct val="120000"/>
              </a:lnSpc>
              <a:spcBef>
                <a:spcPts val="0"/>
              </a:spcBef>
              <a:buNone/>
            </a:pPr>
            <a:r>
              <a:rPr lang="en-GB" sz="4800" dirty="0"/>
              <a:t>    excourse21: 15,656 recommendations</a:t>
            </a:r>
          </a:p>
          <a:p>
            <a:pPr marL="0" indent="0">
              <a:lnSpc>
                <a:spcPct val="120000"/>
              </a:lnSpc>
              <a:spcBef>
                <a:spcPts val="0"/>
              </a:spcBef>
              <a:buNone/>
            </a:pPr>
            <a:r>
              <a:rPr lang="en-GB" sz="4800" dirty="0"/>
              <a:t>    GPXX0IBEN: 15,644 recommendations</a:t>
            </a:r>
          </a:p>
          <a:p>
            <a:pPr marL="0" indent="0">
              <a:lnSpc>
                <a:spcPct val="120000"/>
              </a:lnSpc>
              <a:spcBef>
                <a:spcPts val="0"/>
              </a:spcBef>
              <a:buNone/>
            </a:pPr>
            <a:r>
              <a:rPr lang="en-GB" sz="4800" dirty="0"/>
              <a:t>    ML0122EN (Accelerating Deep Learning with GPU): 15,603 recommendations</a:t>
            </a:r>
          </a:p>
          <a:p>
            <a:pPr marL="0" indent="0">
              <a:lnSpc>
                <a:spcPct val="120000"/>
              </a:lnSpc>
              <a:spcBef>
                <a:spcPts val="0"/>
              </a:spcBef>
              <a:buNone/>
            </a:pPr>
            <a:r>
              <a:rPr lang="en-GB" sz="4800" dirty="0"/>
              <a:t>    excourse06: 15,062 recommendations</a:t>
            </a:r>
          </a:p>
          <a:p>
            <a:pPr marL="0" indent="0">
              <a:lnSpc>
                <a:spcPct val="120000"/>
              </a:lnSpc>
              <a:spcBef>
                <a:spcPts val="0"/>
              </a:spcBef>
              <a:buNone/>
            </a:pPr>
            <a:r>
              <a:rPr lang="en-GB" sz="4800" dirty="0"/>
              <a:t>    excourse04: 15,062 recommendations</a:t>
            </a:r>
          </a:p>
          <a:p>
            <a:pPr marL="0" indent="0">
              <a:lnSpc>
                <a:spcPct val="120000"/>
              </a:lnSpc>
              <a:spcBef>
                <a:spcPts val="0"/>
              </a:spcBef>
              <a:buNone/>
            </a:pPr>
            <a:r>
              <a:rPr lang="en-GB" sz="4800" dirty="0"/>
              <a:t>    GPXX0TY1EN: 14,689 recommendations</a:t>
            </a:r>
          </a:p>
          <a:p>
            <a:pPr marL="0" indent="0">
              <a:lnSpc>
                <a:spcPct val="120000"/>
              </a:lnSpc>
              <a:spcBef>
                <a:spcPts val="0"/>
              </a:spcBef>
              <a:buNone/>
            </a:pPr>
            <a:r>
              <a:rPr lang="en-GB" sz="4800" dirty="0"/>
              <a:t>    excourse73: 14,464 recommendations</a:t>
            </a:r>
          </a:p>
          <a:p>
            <a:pPr marL="0" indent="0">
              <a:lnSpc>
                <a:spcPct val="120000"/>
              </a:lnSpc>
              <a:spcBef>
                <a:spcPts val="0"/>
              </a:spcBef>
              <a:buNone/>
            </a:pPr>
            <a:r>
              <a:rPr lang="en-GB" sz="4800" dirty="0"/>
              <a:t>    excourse72: 14,464 recommendations</a:t>
            </a:r>
          </a:p>
          <a:p>
            <a:pPr marL="0" indent="0">
              <a:lnSpc>
                <a:spcPct val="120000"/>
              </a:lnSpc>
              <a:buNone/>
            </a:pPr>
            <a:r>
              <a:rPr lang="en-GB" sz="4800" dirty="0"/>
              <a:t>These frequencies are based on the total pool of 1,500,424 recommendations produced using a score threshold of 10.0.</a:t>
            </a:r>
            <a:endParaRPr lang="en-US" sz="4800" dirty="0">
              <a:cs typeface="Calibri"/>
            </a:endParaRPr>
          </a:p>
        </p:txBody>
      </p:sp>
    </p:spTree>
    <p:extLst>
      <p:ext uri="{BB962C8B-B14F-4D97-AF65-F5344CB8AC3E}">
        <p14:creationId xmlns:p14="http://schemas.microsoft.com/office/powerpoint/2010/main" val="3024823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a:xfrm>
            <a:off x="838200" y="158296"/>
            <a:ext cx="10515600" cy="1325563"/>
          </a:xfrm>
        </p:spPr>
        <p:txBody>
          <a:bodyPr/>
          <a:lstStyle/>
          <a:p>
            <a:r>
              <a:rPr lang="en-US" sz="2000" dirty="0">
                <a:solidFill>
                  <a:srgbClr val="0B49CB"/>
                </a:solidFill>
                <a:latin typeface="Abadi"/>
              </a:rPr>
              <a:t>Flowchart of content-based recommender system using course similarity</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728428" y="499451"/>
            <a:ext cx="10515600" cy="5533795"/>
          </a:xfrm>
          <a:prstGeom prst="rect">
            <a:avLst/>
          </a:prstGeom>
          <a:ln>
            <a:solidFill>
              <a:srgbClr val="0B49CB"/>
            </a:solidFill>
            <a:prstDash val="dash"/>
          </a:ln>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1C7DDB"/>
                </a:solidFill>
                <a:latin typeface="Abadi"/>
              </a:rPr>
              <a:t>Implementation Flowchart</a:t>
            </a:r>
          </a:p>
          <a:p>
            <a:pPr marL="0" indent="0">
              <a:buNone/>
            </a:pPr>
            <a:r>
              <a:rPr lang="en-GB" sz="1400" dirty="0">
                <a:solidFill>
                  <a:srgbClr val="1C7DDB"/>
                </a:solidFill>
                <a:latin typeface="Abadi"/>
              </a:rPr>
              <a:t>    Input Data:</a:t>
            </a:r>
          </a:p>
          <a:p>
            <a:pPr marL="0" indent="0">
              <a:buNone/>
            </a:pPr>
            <a:r>
              <a:rPr lang="en-GB" sz="1400" dirty="0">
                <a:solidFill>
                  <a:srgbClr val="1C7DDB"/>
                </a:solidFill>
                <a:latin typeface="Abadi"/>
              </a:rPr>
              <a:t>        Course </a:t>
            </a:r>
            <a:r>
              <a:rPr lang="en-GB" sz="1400" dirty="0" err="1">
                <a:solidFill>
                  <a:srgbClr val="1C7DDB"/>
                </a:solidFill>
                <a:latin typeface="Abadi"/>
              </a:rPr>
              <a:t>BoW</a:t>
            </a:r>
            <a:r>
              <a:rPr lang="en-GB" sz="1400" dirty="0">
                <a:solidFill>
                  <a:srgbClr val="1C7DDB"/>
                </a:solidFill>
                <a:latin typeface="Abadi"/>
              </a:rPr>
              <a:t>: A Bag-of-Words (</a:t>
            </a:r>
            <a:r>
              <a:rPr lang="en-GB" sz="1400" dirty="0" err="1">
                <a:solidFill>
                  <a:srgbClr val="1C7DDB"/>
                </a:solidFill>
                <a:latin typeface="Abadi"/>
              </a:rPr>
              <a:t>BoW</a:t>
            </a:r>
            <a:r>
              <a:rPr lang="en-GB" sz="1400" dirty="0">
                <a:solidFill>
                  <a:srgbClr val="1C7DDB"/>
                </a:solidFill>
                <a:latin typeface="Abadi"/>
              </a:rPr>
              <a:t>) representation of course descriptions.</a:t>
            </a:r>
          </a:p>
          <a:p>
            <a:pPr marL="0" indent="0">
              <a:buNone/>
            </a:pPr>
            <a:r>
              <a:rPr lang="en-GB" sz="1400" dirty="0">
                <a:solidFill>
                  <a:srgbClr val="1C7DDB"/>
                </a:solidFill>
                <a:latin typeface="Abadi"/>
              </a:rPr>
              <a:t>        Test Users: A list of users and the courses they have already completed.</a:t>
            </a:r>
          </a:p>
          <a:p>
            <a:pPr marL="0" indent="0">
              <a:buNone/>
            </a:pPr>
            <a:r>
              <a:rPr lang="en-GB" sz="1400" dirty="0">
                <a:solidFill>
                  <a:srgbClr val="1C7DDB"/>
                </a:solidFill>
                <a:latin typeface="Abadi"/>
              </a:rPr>
              <a:t>    Feature Extraction:</a:t>
            </a:r>
          </a:p>
          <a:p>
            <a:pPr marL="0" indent="0">
              <a:buNone/>
            </a:pPr>
            <a:r>
              <a:rPr lang="en-GB" sz="1400" dirty="0">
                <a:solidFill>
                  <a:srgbClr val="1C7DDB"/>
                </a:solidFill>
                <a:latin typeface="Abadi"/>
              </a:rPr>
              <a:t>        Convert the </a:t>
            </a:r>
            <a:r>
              <a:rPr lang="en-GB" sz="1400" dirty="0" err="1">
                <a:solidFill>
                  <a:srgbClr val="1C7DDB"/>
                </a:solidFill>
                <a:latin typeface="Abadi"/>
              </a:rPr>
              <a:t>BoW</a:t>
            </a:r>
            <a:r>
              <a:rPr lang="en-GB" sz="1400" dirty="0">
                <a:solidFill>
                  <a:srgbClr val="1C7DDB"/>
                </a:solidFill>
                <a:latin typeface="Abadi"/>
              </a:rPr>
              <a:t> features into a numerical matrix.</a:t>
            </a:r>
          </a:p>
          <a:p>
            <a:pPr marL="0" indent="0">
              <a:buNone/>
            </a:pPr>
            <a:r>
              <a:rPr lang="en-GB" sz="1400" dirty="0">
                <a:solidFill>
                  <a:srgbClr val="1C7DDB"/>
                </a:solidFill>
                <a:latin typeface="Abadi"/>
              </a:rPr>
              <a:t>        Generate a mapping between course IDs and their respective row indices in the matrix.</a:t>
            </a:r>
          </a:p>
          <a:p>
            <a:pPr marL="0" indent="0">
              <a:buNone/>
            </a:pPr>
            <a:r>
              <a:rPr lang="en-GB" sz="1400" dirty="0">
                <a:solidFill>
                  <a:srgbClr val="1C7DDB"/>
                </a:solidFill>
                <a:latin typeface="Abadi"/>
              </a:rPr>
              <a:t>    Similarity Matrix Calculation:</a:t>
            </a:r>
          </a:p>
          <a:p>
            <a:pPr marL="0" indent="0">
              <a:buNone/>
            </a:pPr>
            <a:r>
              <a:rPr lang="en-GB" sz="1400" dirty="0">
                <a:solidFill>
                  <a:srgbClr val="1C7DDB"/>
                </a:solidFill>
                <a:latin typeface="Abadi"/>
              </a:rPr>
              <a:t>        Calculate the Cosine Similarity between all pairs of courses based on their </a:t>
            </a:r>
            <a:r>
              <a:rPr lang="en-GB" sz="1400" dirty="0" err="1">
                <a:solidFill>
                  <a:srgbClr val="1C7DDB"/>
                </a:solidFill>
                <a:latin typeface="Abadi"/>
              </a:rPr>
              <a:t>BoW</a:t>
            </a:r>
            <a:r>
              <a:rPr lang="en-GB" sz="1400" dirty="0">
                <a:solidFill>
                  <a:srgbClr val="1C7DDB"/>
                </a:solidFill>
                <a:latin typeface="Abadi"/>
              </a:rPr>
              <a:t> features.</a:t>
            </a:r>
          </a:p>
          <a:p>
            <a:pPr marL="0" indent="0">
              <a:buNone/>
            </a:pPr>
            <a:r>
              <a:rPr lang="en-GB" sz="1400" dirty="0">
                <a:solidFill>
                  <a:srgbClr val="1C7DDB"/>
                </a:solidFill>
                <a:latin typeface="Abadi"/>
              </a:rPr>
              <a:t>        Store these scores in a square similarity matrix (N×N, where N is the number of courses).</a:t>
            </a:r>
          </a:p>
          <a:p>
            <a:pPr marL="0" indent="0">
              <a:buNone/>
            </a:pPr>
            <a:r>
              <a:rPr lang="en-GB" sz="1400" dirty="0">
                <a:solidFill>
                  <a:srgbClr val="1C7DDB"/>
                </a:solidFill>
                <a:latin typeface="Abadi"/>
              </a:rPr>
              <a:t>    Recommendation Loop (Per User):</a:t>
            </a:r>
          </a:p>
          <a:p>
            <a:pPr marL="0" indent="0">
              <a:buNone/>
            </a:pPr>
            <a:r>
              <a:rPr lang="en-GB" sz="1400" dirty="0">
                <a:solidFill>
                  <a:srgbClr val="1C7DDB"/>
                </a:solidFill>
                <a:latin typeface="Abadi"/>
              </a:rPr>
              <a:t>        Identify Enrolled Courses: For a specific user, find all courses they have already finished.</a:t>
            </a:r>
          </a:p>
          <a:p>
            <a:pPr marL="0" indent="0">
              <a:buNone/>
            </a:pPr>
            <a:r>
              <a:rPr lang="en-GB" sz="1400" dirty="0">
                <a:solidFill>
                  <a:srgbClr val="1C7DDB"/>
                </a:solidFill>
                <a:latin typeface="Abadi"/>
              </a:rPr>
              <a:t>        Identify Candidate Courses: Gather all courses in the </a:t>
            </a:r>
            <a:r>
              <a:rPr lang="en-GB" sz="1400" dirty="0" err="1">
                <a:solidFill>
                  <a:srgbClr val="1C7DDB"/>
                </a:solidFill>
                <a:latin typeface="Abadi"/>
              </a:rPr>
              <a:t>catalog</a:t>
            </a:r>
            <a:r>
              <a:rPr lang="en-GB" sz="1400" dirty="0">
                <a:solidFill>
                  <a:srgbClr val="1C7DDB"/>
                </a:solidFill>
                <a:latin typeface="Abadi"/>
              </a:rPr>
              <a:t> that the user has not taken yet.</a:t>
            </a:r>
          </a:p>
          <a:p>
            <a:pPr marL="0" indent="0">
              <a:buNone/>
            </a:pPr>
            <a:r>
              <a:rPr lang="en-GB" sz="1400" dirty="0">
                <a:solidFill>
                  <a:srgbClr val="1C7DDB"/>
                </a:solidFill>
                <a:latin typeface="Abadi"/>
              </a:rPr>
              <a:t>        Score Candidates: For each candidate course, calculate a similarity score by averaging its similarity to all of the user's enrolled courses.</a:t>
            </a:r>
          </a:p>
          <a:p>
            <a:pPr marL="0" indent="0">
              <a:buNone/>
            </a:pPr>
            <a:r>
              <a:rPr lang="en-GB" sz="1400" dirty="0">
                <a:solidFill>
                  <a:srgbClr val="1C7DDB"/>
                </a:solidFill>
                <a:latin typeface="Abadi"/>
              </a:rPr>
              <a:t>        Threshold Filtering: Keep only candidates with a similarity score above a predefined threshold (e.g., 0.6).</a:t>
            </a:r>
          </a:p>
          <a:p>
            <a:pPr marL="0" indent="0">
              <a:buNone/>
            </a:pPr>
            <a:r>
              <a:rPr lang="en-GB" sz="1400" dirty="0">
                <a:solidFill>
                  <a:srgbClr val="1C7DDB"/>
                </a:solidFill>
                <a:latin typeface="Abadi"/>
              </a:rPr>
              <a:t>    Output:</a:t>
            </a:r>
          </a:p>
          <a:p>
            <a:pPr marL="0" indent="0">
              <a:buNone/>
            </a:pPr>
            <a:r>
              <a:rPr lang="en-GB" sz="1400" dirty="0">
                <a:solidFill>
                  <a:srgbClr val="1C7DDB"/>
                </a:solidFill>
                <a:latin typeface="Abadi"/>
              </a:rPr>
              <a:t>        Return a ranked list of recommended courses for each user.</a:t>
            </a:r>
            <a:endParaRPr lang="en-US" sz="1400" dirty="0">
              <a:solidFill>
                <a:srgbClr val="1C7DDB"/>
              </a:solidFill>
              <a:latin typeface="Abad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6373983"/>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6033247"/>
            <a:ext cx="1645920" cy="69939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Similarity Matrix Calculation</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6121432"/>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Input Data	</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6058868"/>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 Extraction</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639575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6058868"/>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Recommendation Loop</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6394140"/>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6121432"/>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Output</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6394140"/>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156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2000" dirty="0">
                <a:solidFill>
                  <a:srgbClr val="0B49CB"/>
                </a:solidFill>
                <a:latin typeface="Abadi"/>
              </a:rPr>
              <a:t>Evaluation results of course similarity based recommender system</a:t>
            </a: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1075348" y="5419386"/>
            <a:ext cx="4720206" cy="1324656"/>
          </a:xfrm>
          <a:prstGeom prst="rect">
            <a:avLst/>
          </a:prstGeom>
          <a:ln>
            <a:solidFill>
              <a:srgbClr val="0B49CB"/>
            </a:solidFill>
            <a:prstDash val="dash"/>
          </a:ln>
        </p:spPr>
        <p:txBody>
          <a:bodyPr vert="horz" lIns="91440" tIns="45720" rIns="91440" bIns="45720" rtlCol="0" anchor="t">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None/>
            </a:pPr>
            <a:endParaRPr lang="en-US" sz="2200" dirty="0">
              <a:solidFill>
                <a:srgbClr val="1C7DDB"/>
              </a:solidFill>
              <a:latin typeface="Abadi"/>
            </a:endParaRPr>
          </a:p>
          <a:p>
            <a:pPr marL="0" indent="0">
              <a:buNone/>
            </a:pPr>
            <a:endParaRPr lang="en-US" sz="2000" dirty="0">
              <a:solidFill>
                <a:srgbClr val="1C7DDB"/>
              </a:solidFill>
              <a:latin typeface="Abadi"/>
            </a:endParaRPr>
          </a:p>
          <a:p>
            <a:pPr marL="0" indent="0">
              <a:buNone/>
            </a:pPr>
            <a:r>
              <a:rPr lang="en-GB" sz="2000" dirty="0">
                <a:solidFill>
                  <a:srgbClr val="1C7DDB"/>
                </a:solidFill>
                <a:latin typeface="Abadi"/>
              </a:rPr>
              <a:t>On average, 19.1 new/unseen courses were recommended per user in the test dataset.</a:t>
            </a:r>
            <a:endParaRPr lang="en-US" sz="2400" dirty="0">
              <a:cs typeface="Calibri"/>
            </a:endParaRP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933834" y="776286"/>
            <a:ext cx="5238366" cy="2772457"/>
          </a:xfrm>
          <a:prstGeom prst="rect">
            <a:avLst/>
          </a:prstGeom>
          <a:ln>
            <a:solidFill>
              <a:srgbClr val="0B49CB"/>
            </a:solidFill>
            <a:prstDash val="dash"/>
          </a:ln>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1C7DDB"/>
                </a:solidFill>
                <a:latin typeface="Abadi"/>
              </a:rPr>
              <a:t>1. Key Performance Thresholds</a:t>
            </a:r>
          </a:p>
          <a:p>
            <a:pPr marL="0" indent="0">
              <a:buNone/>
            </a:pPr>
            <a:r>
              <a:rPr lang="en-GB" sz="1400" dirty="0">
                <a:solidFill>
                  <a:srgbClr val="1C7DDB"/>
                </a:solidFill>
                <a:latin typeface="Abadi"/>
              </a:rPr>
              <a:t>    a)Similarity Threshold: A threshold of 0.6 was discussed for filtering potential course candidates in similarity-based systems. In the provided similarity matrix, scores are normalized between 0 and 1, with a score of 1.0 on the diagonal indicating a perfect self-match.</a:t>
            </a:r>
          </a:p>
          <a:p>
            <a:pPr marL="0" indent="0">
              <a:buNone/>
            </a:pPr>
            <a:r>
              <a:rPr lang="en-GB" sz="1400" dirty="0">
                <a:solidFill>
                  <a:srgbClr val="1C7DDB"/>
                </a:solidFill>
                <a:latin typeface="Abadi"/>
              </a:rPr>
              <a:t>    b)Recommendation Score: For the content-based recommender, a score threshold of 10.0 was utilized to filter for relevant courses.</a:t>
            </a:r>
          </a:p>
          <a:p>
            <a:pPr marL="0" indent="0">
              <a:buNone/>
            </a:pPr>
            <a:r>
              <a:rPr lang="en-GB" sz="1400" dirty="0">
                <a:solidFill>
                  <a:srgbClr val="1C7DDB"/>
                </a:solidFill>
                <a:latin typeface="Abadi"/>
              </a:rPr>
              <a:t>    c)Recommendation Limit: To ensure the system remains practical and avoids user overwhelm, recommendations are constrained to less than 20 courses per user.</a:t>
            </a:r>
          </a:p>
          <a:p>
            <a:pPr marL="0" indent="0">
              <a:buNone/>
            </a:pPr>
            <a:r>
              <a:rPr lang="en-GB" sz="1400" dirty="0">
                <a:solidFill>
                  <a:srgbClr val="1C7DDB"/>
                </a:solidFill>
                <a:latin typeface="Abadi"/>
              </a:rPr>
              <a:t>2. General Operational Parameters</a:t>
            </a:r>
          </a:p>
          <a:p>
            <a:pPr marL="0" indent="0">
              <a:buNone/>
            </a:pPr>
            <a:r>
              <a:rPr lang="en-GB" sz="1400" dirty="0">
                <a:solidFill>
                  <a:srgbClr val="1C7DDB"/>
                </a:solidFill>
                <a:latin typeface="Abadi"/>
              </a:rPr>
              <a:t>    a)Random State: A fixed value of 123 was set to ensure the reproducibility of results during data processing and </a:t>
            </a:r>
            <a:r>
              <a:rPr lang="en-GB" sz="1400" dirty="0" err="1">
                <a:solidFill>
                  <a:srgbClr val="1C7DDB"/>
                </a:solidFill>
                <a:latin typeface="Abadi"/>
              </a:rPr>
              <a:t>modeling</a:t>
            </a:r>
            <a:r>
              <a:rPr lang="en-GB" sz="1400" dirty="0">
                <a:solidFill>
                  <a:srgbClr val="1C7DDB"/>
                </a:solidFill>
                <a:latin typeface="Abadi"/>
              </a:rPr>
              <a:t>.</a:t>
            </a:r>
          </a:p>
          <a:p>
            <a:pPr marL="0" indent="0">
              <a:buNone/>
            </a:pPr>
            <a:r>
              <a:rPr lang="en-GB" sz="1400" dirty="0">
                <a:solidFill>
                  <a:srgbClr val="1C7DDB"/>
                </a:solidFill>
                <a:latin typeface="Abadi"/>
              </a:rPr>
              <a:t>    b)Feature Extraction (</a:t>
            </a:r>
            <a:r>
              <a:rPr lang="en-GB" sz="1400" dirty="0" err="1">
                <a:solidFill>
                  <a:srgbClr val="1C7DDB"/>
                </a:solidFill>
                <a:latin typeface="Abadi"/>
              </a:rPr>
              <a:t>BoW</a:t>
            </a:r>
            <a:r>
              <a:rPr lang="en-GB" sz="1400" dirty="0">
                <a:solidFill>
                  <a:srgbClr val="1C7DDB"/>
                </a:solidFill>
                <a:latin typeface="Abadi"/>
              </a:rPr>
              <a:t>): The accuracy of the similarity scores is driven by the Bag of Words (</a:t>
            </a:r>
            <a:r>
              <a:rPr lang="en-GB" sz="1400" dirty="0" err="1">
                <a:solidFill>
                  <a:srgbClr val="1C7DDB"/>
                </a:solidFill>
                <a:latin typeface="Abadi"/>
              </a:rPr>
              <a:t>BoW</a:t>
            </a:r>
            <a:r>
              <a:rPr lang="en-GB" sz="1400" dirty="0">
                <a:solidFill>
                  <a:srgbClr val="1C7DDB"/>
                </a:solidFill>
                <a:latin typeface="Abadi"/>
              </a:rPr>
              <a:t>) model, where the vocabulary size and word frequency counts serve as underlying parameters for creating the course vectors.</a:t>
            </a:r>
            <a:endParaRPr lang="en-US" sz="1400" dirty="0">
              <a:cs typeface="Calibri"/>
            </a:endParaRPr>
          </a:p>
        </p:txBody>
      </p:sp>
      <p:graphicFrame>
        <p:nvGraphicFramePr>
          <p:cNvPr id="2" name="Table 1">
            <a:extLst>
              <a:ext uri="{FF2B5EF4-FFF2-40B4-BE49-F238E27FC236}">
                <a16:creationId xmlns:a16="http://schemas.microsoft.com/office/drawing/2014/main" id="{A1CCBA21-26AE-DE5F-6EB5-55A6D4E4AD6F}"/>
              </a:ext>
            </a:extLst>
          </p:cNvPr>
          <p:cNvGraphicFramePr>
            <a:graphicFrameLocks noGrp="1"/>
          </p:cNvGraphicFramePr>
          <p:nvPr>
            <p:extLst>
              <p:ext uri="{D42A27DB-BD31-4B8C-83A1-F6EECF244321}">
                <p14:modId xmlns:p14="http://schemas.microsoft.com/office/powerpoint/2010/main" val="2970197724"/>
              </p:ext>
            </p:extLst>
          </p:nvPr>
        </p:nvGraphicFramePr>
        <p:xfrm>
          <a:off x="6629400" y="950458"/>
          <a:ext cx="4720208" cy="5611906"/>
        </p:xfrm>
        <a:graphic>
          <a:graphicData uri="http://schemas.openxmlformats.org/drawingml/2006/table">
            <a:tbl>
              <a:tblPr/>
              <a:tblGrid>
                <a:gridCol w="1180052">
                  <a:extLst>
                    <a:ext uri="{9D8B030D-6E8A-4147-A177-3AD203B41FA5}">
                      <a16:colId xmlns:a16="http://schemas.microsoft.com/office/drawing/2014/main" val="4264138653"/>
                    </a:ext>
                  </a:extLst>
                </a:gridCol>
                <a:gridCol w="1180052">
                  <a:extLst>
                    <a:ext uri="{9D8B030D-6E8A-4147-A177-3AD203B41FA5}">
                      <a16:colId xmlns:a16="http://schemas.microsoft.com/office/drawing/2014/main" val="3212191476"/>
                    </a:ext>
                  </a:extLst>
                </a:gridCol>
                <a:gridCol w="1180052">
                  <a:extLst>
                    <a:ext uri="{9D8B030D-6E8A-4147-A177-3AD203B41FA5}">
                      <a16:colId xmlns:a16="http://schemas.microsoft.com/office/drawing/2014/main" val="718823102"/>
                    </a:ext>
                  </a:extLst>
                </a:gridCol>
                <a:gridCol w="1180052">
                  <a:extLst>
                    <a:ext uri="{9D8B030D-6E8A-4147-A177-3AD203B41FA5}">
                      <a16:colId xmlns:a16="http://schemas.microsoft.com/office/drawing/2014/main" val="197613338"/>
                    </a:ext>
                  </a:extLst>
                </a:gridCol>
              </a:tblGrid>
              <a:tr h="283367">
                <a:tc>
                  <a:txBody>
                    <a:bodyPr/>
                    <a:lstStyle/>
                    <a:p>
                      <a:pPr defTabSz="360000">
                        <a:buNone/>
                      </a:pPr>
                      <a:r>
                        <a:rPr lang="en-IN" sz="1200" dirty="0"/>
                        <a:t>Rank</a:t>
                      </a:r>
                    </a:p>
                  </a:txBody>
                  <a:tcPr marL="61286" marR="61286" marT="30643" marB="30643" anchor="ctr">
                    <a:lnL>
                      <a:noFill/>
                    </a:lnL>
                    <a:lnR>
                      <a:noFill/>
                    </a:lnR>
                    <a:lnT>
                      <a:noFill/>
                    </a:lnT>
                    <a:lnB>
                      <a:noFill/>
                    </a:lnB>
                    <a:noFill/>
                  </a:tcPr>
                </a:tc>
                <a:tc>
                  <a:txBody>
                    <a:bodyPr/>
                    <a:lstStyle/>
                    <a:p>
                      <a:pPr defTabSz="360000">
                        <a:buNone/>
                      </a:pPr>
                      <a:r>
                        <a:rPr lang="en-IN" sz="1200"/>
                        <a:t>Course ID</a:t>
                      </a:r>
                    </a:p>
                  </a:txBody>
                  <a:tcPr marL="61286" marR="61286" marT="30643" marB="30643" anchor="ctr">
                    <a:lnL>
                      <a:noFill/>
                    </a:lnL>
                    <a:lnR>
                      <a:noFill/>
                    </a:lnR>
                    <a:lnT>
                      <a:noFill/>
                    </a:lnT>
                    <a:lnB>
                      <a:noFill/>
                    </a:lnB>
                    <a:noFill/>
                  </a:tcPr>
                </a:tc>
                <a:tc>
                  <a:txBody>
                    <a:bodyPr/>
                    <a:lstStyle/>
                    <a:p>
                      <a:pPr defTabSz="360000">
                        <a:buNone/>
                      </a:pPr>
                      <a:r>
                        <a:rPr lang="en-IN" sz="1200"/>
                        <a:t>Course Title</a:t>
                      </a:r>
                    </a:p>
                  </a:txBody>
                  <a:tcPr marL="61286" marR="61286" marT="30643" marB="30643" anchor="ctr">
                    <a:lnL>
                      <a:noFill/>
                    </a:lnL>
                    <a:lnR>
                      <a:noFill/>
                    </a:lnR>
                    <a:lnT>
                      <a:noFill/>
                    </a:lnT>
                    <a:lnB>
                      <a:noFill/>
                    </a:lnB>
                    <a:noFill/>
                  </a:tcPr>
                </a:tc>
                <a:tc>
                  <a:txBody>
                    <a:bodyPr/>
                    <a:lstStyle/>
                    <a:p>
                      <a:pPr defTabSz="360000">
                        <a:buNone/>
                      </a:pPr>
                      <a:r>
                        <a:rPr lang="en-IN" sz="1200"/>
                        <a:t>Recommended Frequency</a:t>
                      </a:r>
                    </a:p>
                  </a:txBody>
                  <a:tcPr marL="61286" marR="61286" marT="30643" marB="30643" anchor="ctr">
                    <a:lnL>
                      <a:noFill/>
                    </a:lnL>
                    <a:lnR>
                      <a:noFill/>
                    </a:lnR>
                    <a:lnT>
                      <a:noFill/>
                    </a:lnT>
                    <a:lnB>
                      <a:noFill/>
                    </a:lnB>
                    <a:noFill/>
                  </a:tcPr>
                </a:tc>
                <a:extLst>
                  <a:ext uri="{0D108BD9-81ED-4DB2-BD59-A6C34878D82A}">
                    <a16:rowId xmlns:a16="http://schemas.microsoft.com/office/drawing/2014/main" val="3864717148"/>
                  </a:ext>
                </a:extLst>
              </a:tr>
              <a:tr h="283367">
                <a:tc>
                  <a:txBody>
                    <a:bodyPr/>
                    <a:lstStyle/>
                    <a:p>
                      <a:pPr defTabSz="360000">
                        <a:buNone/>
                      </a:pPr>
                      <a:r>
                        <a:rPr lang="en-IN" sz="1200" dirty="0"/>
                        <a:t>1</a:t>
                      </a:r>
                    </a:p>
                  </a:txBody>
                  <a:tcPr marL="61286" marR="61286" marT="30643" marB="30643" anchor="ctr">
                    <a:lnL>
                      <a:noFill/>
                    </a:lnL>
                    <a:lnR>
                      <a:noFill/>
                    </a:lnR>
                    <a:lnT>
                      <a:noFill/>
                    </a:lnT>
                    <a:lnB>
                      <a:noFill/>
                    </a:lnB>
                    <a:noFill/>
                  </a:tcPr>
                </a:tc>
                <a:tc>
                  <a:txBody>
                    <a:bodyPr/>
                    <a:lstStyle/>
                    <a:p>
                      <a:pPr defTabSz="360000">
                        <a:buNone/>
                      </a:pPr>
                      <a:r>
                        <a:rPr lang="en-IN" sz="1200"/>
                        <a:t>158</a:t>
                      </a:r>
                    </a:p>
                  </a:txBody>
                  <a:tcPr marL="61286" marR="61286" marT="30643" marB="30643" anchor="ctr">
                    <a:lnL>
                      <a:noFill/>
                    </a:lnL>
                    <a:lnR>
                      <a:noFill/>
                    </a:lnR>
                    <a:lnT>
                      <a:noFill/>
                    </a:lnT>
                    <a:lnB>
                      <a:noFill/>
                    </a:lnB>
                    <a:noFill/>
                  </a:tcPr>
                </a:tc>
                <a:tc>
                  <a:txBody>
                    <a:bodyPr/>
                    <a:lstStyle/>
                    <a:p>
                      <a:pPr defTabSz="360000">
                        <a:buNone/>
                      </a:pPr>
                      <a:r>
                        <a:rPr lang="en-GB" sz="1200" b="1"/>
                        <a:t>Accelerating Deep Learning with GPU</a:t>
                      </a:r>
                      <a:endParaRPr lang="en-GB" sz="1200"/>
                    </a:p>
                  </a:txBody>
                  <a:tcPr marL="61286" marR="61286" marT="30643" marB="30643" anchor="ctr">
                    <a:lnL>
                      <a:noFill/>
                    </a:lnL>
                    <a:lnR>
                      <a:noFill/>
                    </a:lnR>
                    <a:lnT>
                      <a:noFill/>
                    </a:lnT>
                    <a:lnB>
                      <a:noFill/>
                    </a:lnB>
                    <a:noFill/>
                  </a:tcPr>
                </a:tc>
                <a:tc>
                  <a:txBody>
                    <a:bodyPr/>
                    <a:lstStyle/>
                    <a:p>
                      <a:pPr defTabSz="360000">
                        <a:buNone/>
                      </a:pPr>
                      <a:r>
                        <a:rPr lang="en-IN" sz="1200"/>
                        <a:t>56</a:t>
                      </a:r>
                    </a:p>
                  </a:txBody>
                  <a:tcPr marL="61286" marR="61286" marT="30643" marB="30643" anchor="ctr">
                    <a:lnL>
                      <a:noFill/>
                    </a:lnL>
                    <a:lnR>
                      <a:noFill/>
                    </a:lnR>
                    <a:lnT>
                      <a:noFill/>
                    </a:lnT>
                    <a:lnB>
                      <a:noFill/>
                    </a:lnB>
                    <a:noFill/>
                  </a:tcPr>
                </a:tc>
                <a:extLst>
                  <a:ext uri="{0D108BD9-81ED-4DB2-BD59-A6C34878D82A}">
                    <a16:rowId xmlns:a16="http://schemas.microsoft.com/office/drawing/2014/main" val="1857578768"/>
                  </a:ext>
                </a:extLst>
              </a:tr>
              <a:tr h="283367">
                <a:tc>
                  <a:txBody>
                    <a:bodyPr/>
                    <a:lstStyle/>
                    <a:p>
                      <a:pPr defTabSz="360000">
                        <a:buNone/>
                      </a:pPr>
                      <a:r>
                        <a:rPr lang="en-IN" sz="1200" dirty="0"/>
                        <a:t>2</a:t>
                      </a:r>
                    </a:p>
                  </a:txBody>
                  <a:tcPr marL="61286" marR="61286" marT="30643" marB="30643" anchor="ctr">
                    <a:lnL>
                      <a:noFill/>
                    </a:lnL>
                    <a:lnR>
                      <a:noFill/>
                    </a:lnR>
                    <a:lnT>
                      <a:noFill/>
                    </a:lnT>
                    <a:lnB>
                      <a:noFill/>
                    </a:lnB>
                    <a:noFill/>
                  </a:tcPr>
                </a:tc>
                <a:tc>
                  <a:txBody>
                    <a:bodyPr/>
                    <a:lstStyle/>
                    <a:p>
                      <a:pPr defTabSz="360000">
                        <a:buNone/>
                      </a:pPr>
                      <a:r>
                        <a:rPr lang="en-IN" sz="1200" dirty="0"/>
                        <a:t>269</a:t>
                      </a:r>
                    </a:p>
                  </a:txBody>
                  <a:tcPr marL="61286" marR="61286" marT="30643" marB="30643" anchor="ctr">
                    <a:lnL>
                      <a:noFill/>
                    </a:lnL>
                    <a:lnR>
                      <a:noFill/>
                    </a:lnR>
                    <a:lnT>
                      <a:noFill/>
                    </a:lnT>
                    <a:lnB>
                      <a:noFill/>
                    </a:lnB>
                    <a:noFill/>
                  </a:tcPr>
                </a:tc>
                <a:tc>
                  <a:txBody>
                    <a:bodyPr/>
                    <a:lstStyle/>
                    <a:p>
                      <a:pPr defTabSz="360000">
                        <a:buNone/>
                      </a:pPr>
                      <a:r>
                        <a:rPr lang="en-IN" sz="1200" b="1" dirty="0"/>
                        <a:t>Introduction to Artificial Intelligence</a:t>
                      </a:r>
                      <a:endParaRPr lang="en-IN" sz="1200" dirty="0"/>
                    </a:p>
                  </a:txBody>
                  <a:tcPr marL="61286" marR="61286" marT="30643" marB="30643" anchor="ctr">
                    <a:lnL>
                      <a:noFill/>
                    </a:lnL>
                    <a:lnR>
                      <a:noFill/>
                    </a:lnR>
                    <a:lnT>
                      <a:noFill/>
                    </a:lnT>
                    <a:lnB>
                      <a:noFill/>
                    </a:lnB>
                    <a:noFill/>
                  </a:tcPr>
                </a:tc>
                <a:tc>
                  <a:txBody>
                    <a:bodyPr/>
                    <a:lstStyle/>
                    <a:p>
                      <a:pPr defTabSz="360000">
                        <a:buNone/>
                      </a:pPr>
                      <a:r>
                        <a:rPr lang="en-IN" sz="1200"/>
                        <a:t>54</a:t>
                      </a:r>
                    </a:p>
                  </a:txBody>
                  <a:tcPr marL="61286" marR="61286" marT="30643" marB="30643" anchor="ctr">
                    <a:lnL>
                      <a:noFill/>
                    </a:lnL>
                    <a:lnR>
                      <a:noFill/>
                    </a:lnR>
                    <a:lnT>
                      <a:noFill/>
                    </a:lnT>
                    <a:lnB>
                      <a:noFill/>
                    </a:lnB>
                    <a:noFill/>
                  </a:tcPr>
                </a:tc>
                <a:extLst>
                  <a:ext uri="{0D108BD9-81ED-4DB2-BD59-A6C34878D82A}">
                    <a16:rowId xmlns:a16="http://schemas.microsoft.com/office/drawing/2014/main" val="2356328844"/>
                  </a:ext>
                </a:extLst>
              </a:tr>
              <a:tr h="404717">
                <a:tc>
                  <a:txBody>
                    <a:bodyPr/>
                    <a:lstStyle/>
                    <a:p>
                      <a:pPr defTabSz="360000">
                        <a:buNone/>
                      </a:pPr>
                      <a:r>
                        <a:rPr lang="en-IN" sz="1200"/>
                        <a:t>3</a:t>
                      </a:r>
                    </a:p>
                  </a:txBody>
                  <a:tcPr marL="61286" marR="61286" marT="30643" marB="30643" anchor="ctr">
                    <a:lnL>
                      <a:noFill/>
                    </a:lnL>
                    <a:lnR>
                      <a:noFill/>
                    </a:lnR>
                    <a:lnT>
                      <a:noFill/>
                    </a:lnT>
                    <a:lnB>
                      <a:noFill/>
                    </a:lnB>
                    <a:noFill/>
                  </a:tcPr>
                </a:tc>
                <a:tc>
                  <a:txBody>
                    <a:bodyPr/>
                    <a:lstStyle/>
                    <a:p>
                      <a:pPr defTabSz="360000">
                        <a:buNone/>
                      </a:pPr>
                      <a:r>
                        <a:rPr lang="en-IN" sz="1200" dirty="0"/>
                        <a:t>290</a:t>
                      </a:r>
                    </a:p>
                  </a:txBody>
                  <a:tcPr marL="61286" marR="61286" marT="30643" marB="30643" anchor="ctr">
                    <a:lnL>
                      <a:noFill/>
                    </a:lnL>
                    <a:lnR>
                      <a:noFill/>
                    </a:lnR>
                    <a:lnT>
                      <a:noFill/>
                    </a:lnT>
                    <a:lnB>
                      <a:noFill/>
                    </a:lnB>
                    <a:noFill/>
                  </a:tcPr>
                </a:tc>
                <a:tc>
                  <a:txBody>
                    <a:bodyPr/>
                    <a:lstStyle/>
                    <a:p>
                      <a:pPr defTabSz="360000">
                        <a:buNone/>
                      </a:pPr>
                      <a:r>
                        <a:rPr lang="en-IN" sz="1200" b="1" dirty="0"/>
                        <a:t>Natural Language Processing Introduction</a:t>
                      </a:r>
                      <a:endParaRPr lang="en-IN" sz="1200" dirty="0"/>
                    </a:p>
                  </a:txBody>
                  <a:tcPr marL="61286" marR="61286" marT="30643" marB="30643" anchor="ctr">
                    <a:lnL>
                      <a:noFill/>
                    </a:lnL>
                    <a:lnR>
                      <a:noFill/>
                    </a:lnR>
                    <a:lnT>
                      <a:noFill/>
                    </a:lnT>
                    <a:lnB>
                      <a:noFill/>
                    </a:lnB>
                    <a:noFill/>
                  </a:tcPr>
                </a:tc>
                <a:tc>
                  <a:txBody>
                    <a:bodyPr/>
                    <a:lstStyle/>
                    <a:p>
                      <a:pPr defTabSz="360000">
                        <a:buNone/>
                      </a:pPr>
                      <a:r>
                        <a:rPr lang="en-IN" sz="1200"/>
                        <a:t>43</a:t>
                      </a:r>
                    </a:p>
                  </a:txBody>
                  <a:tcPr marL="61286" marR="61286" marT="30643" marB="30643" anchor="ctr">
                    <a:lnL>
                      <a:noFill/>
                    </a:lnL>
                    <a:lnR>
                      <a:noFill/>
                    </a:lnR>
                    <a:lnT>
                      <a:noFill/>
                    </a:lnT>
                    <a:lnB>
                      <a:noFill/>
                    </a:lnB>
                    <a:noFill/>
                  </a:tcPr>
                </a:tc>
                <a:extLst>
                  <a:ext uri="{0D108BD9-81ED-4DB2-BD59-A6C34878D82A}">
                    <a16:rowId xmlns:a16="http://schemas.microsoft.com/office/drawing/2014/main" val="1861618267"/>
                  </a:ext>
                </a:extLst>
              </a:tr>
              <a:tr h="283367">
                <a:tc>
                  <a:txBody>
                    <a:bodyPr/>
                    <a:lstStyle/>
                    <a:p>
                      <a:pPr defTabSz="360000">
                        <a:buNone/>
                      </a:pPr>
                      <a:r>
                        <a:rPr lang="en-IN" sz="1200" dirty="0"/>
                        <a:t>4</a:t>
                      </a:r>
                    </a:p>
                  </a:txBody>
                  <a:tcPr marL="61286" marR="61286" marT="30643" marB="30643" anchor="ctr">
                    <a:lnL>
                      <a:noFill/>
                    </a:lnL>
                    <a:lnR>
                      <a:noFill/>
                    </a:lnR>
                    <a:lnT>
                      <a:noFill/>
                    </a:lnT>
                    <a:lnB>
                      <a:noFill/>
                    </a:lnB>
                    <a:noFill/>
                  </a:tcPr>
                </a:tc>
                <a:tc>
                  <a:txBody>
                    <a:bodyPr/>
                    <a:lstStyle/>
                    <a:p>
                      <a:pPr defTabSz="360000">
                        <a:buNone/>
                      </a:pPr>
                      <a:r>
                        <a:rPr lang="en-IN" sz="1200" dirty="0"/>
                        <a:t>147</a:t>
                      </a:r>
                    </a:p>
                  </a:txBody>
                  <a:tcPr marL="61286" marR="61286" marT="30643" marB="30643" anchor="ctr">
                    <a:lnL>
                      <a:noFill/>
                    </a:lnL>
                    <a:lnR>
                      <a:noFill/>
                    </a:lnR>
                    <a:lnT>
                      <a:noFill/>
                    </a:lnT>
                    <a:lnB>
                      <a:noFill/>
                    </a:lnB>
                    <a:noFill/>
                  </a:tcPr>
                </a:tc>
                <a:tc>
                  <a:txBody>
                    <a:bodyPr/>
                    <a:lstStyle/>
                    <a:p>
                      <a:pPr defTabSz="360000">
                        <a:buNone/>
                      </a:pPr>
                      <a:r>
                        <a:rPr lang="en-IN" sz="1200" b="1"/>
                        <a:t>Deep Learning with PyTorch</a:t>
                      </a:r>
                      <a:endParaRPr lang="en-IN" sz="1200"/>
                    </a:p>
                  </a:txBody>
                  <a:tcPr marL="61286" marR="61286" marT="30643" marB="30643" anchor="ctr">
                    <a:lnL>
                      <a:noFill/>
                    </a:lnL>
                    <a:lnR>
                      <a:noFill/>
                    </a:lnR>
                    <a:lnT>
                      <a:noFill/>
                    </a:lnT>
                    <a:lnB>
                      <a:noFill/>
                    </a:lnB>
                    <a:noFill/>
                  </a:tcPr>
                </a:tc>
                <a:tc>
                  <a:txBody>
                    <a:bodyPr/>
                    <a:lstStyle/>
                    <a:p>
                      <a:pPr defTabSz="360000">
                        <a:buNone/>
                      </a:pPr>
                      <a:r>
                        <a:rPr lang="en-IN" sz="1200"/>
                        <a:t>41</a:t>
                      </a:r>
                    </a:p>
                  </a:txBody>
                  <a:tcPr marL="61286" marR="61286" marT="30643" marB="30643" anchor="ctr">
                    <a:lnL>
                      <a:noFill/>
                    </a:lnL>
                    <a:lnR>
                      <a:noFill/>
                    </a:lnR>
                    <a:lnT>
                      <a:noFill/>
                    </a:lnT>
                    <a:lnB>
                      <a:noFill/>
                    </a:lnB>
                    <a:noFill/>
                  </a:tcPr>
                </a:tc>
                <a:extLst>
                  <a:ext uri="{0D108BD9-81ED-4DB2-BD59-A6C34878D82A}">
                    <a16:rowId xmlns:a16="http://schemas.microsoft.com/office/drawing/2014/main" val="3315932105"/>
                  </a:ext>
                </a:extLst>
              </a:tr>
              <a:tr h="283367">
                <a:tc>
                  <a:txBody>
                    <a:bodyPr/>
                    <a:lstStyle/>
                    <a:p>
                      <a:pPr defTabSz="360000">
                        <a:buNone/>
                      </a:pPr>
                      <a:r>
                        <a:rPr lang="en-IN" sz="1200"/>
                        <a:t>5</a:t>
                      </a:r>
                    </a:p>
                  </a:txBody>
                  <a:tcPr marL="61286" marR="61286" marT="30643" marB="30643" anchor="ctr">
                    <a:lnL>
                      <a:noFill/>
                    </a:lnL>
                    <a:lnR>
                      <a:noFill/>
                    </a:lnR>
                    <a:lnT>
                      <a:noFill/>
                    </a:lnT>
                    <a:lnB>
                      <a:noFill/>
                    </a:lnB>
                    <a:noFill/>
                  </a:tcPr>
                </a:tc>
                <a:tc>
                  <a:txBody>
                    <a:bodyPr/>
                    <a:lstStyle/>
                    <a:p>
                      <a:pPr defTabSz="360000">
                        <a:buNone/>
                      </a:pPr>
                      <a:r>
                        <a:rPr lang="en-IN" sz="1200" dirty="0"/>
                        <a:t>143</a:t>
                      </a:r>
                    </a:p>
                  </a:txBody>
                  <a:tcPr marL="61286" marR="61286" marT="30643" marB="30643" anchor="ctr">
                    <a:lnL>
                      <a:noFill/>
                    </a:lnL>
                    <a:lnR>
                      <a:noFill/>
                    </a:lnR>
                    <a:lnT>
                      <a:noFill/>
                    </a:lnT>
                    <a:lnB>
                      <a:noFill/>
                    </a:lnB>
                    <a:noFill/>
                  </a:tcPr>
                </a:tc>
                <a:tc>
                  <a:txBody>
                    <a:bodyPr/>
                    <a:lstStyle/>
                    <a:p>
                      <a:pPr defTabSz="360000">
                        <a:buNone/>
                      </a:pPr>
                      <a:r>
                        <a:rPr lang="en-IN" sz="1200" b="1" dirty="0"/>
                        <a:t>Deep Learning with TensorFlow</a:t>
                      </a:r>
                      <a:endParaRPr lang="en-IN" sz="1200" dirty="0"/>
                    </a:p>
                  </a:txBody>
                  <a:tcPr marL="61286" marR="61286" marT="30643" marB="30643" anchor="ctr">
                    <a:lnL>
                      <a:noFill/>
                    </a:lnL>
                    <a:lnR>
                      <a:noFill/>
                    </a:lnR>
                    <a:lnT>
                      <a:noFill/>
                    </a:lnT>
                    <a:lnB>
                      <a:noFill/>
                    </a:lnB>
                    <a:noFill/>
                  </a:tcPr>
                </a:tc>
                <a:tc>
                  <a:txBody>
                    <a:bodyPr/>
                    <a:lstStyle/>
                    <a:p>
                      <a:pPr defTabSz="360000">
                        <a:buNone/>
                      </a:pPr>
                      <a:r>
                        <a:rPr lang="en-IN" sz="1200"/>
                        <a:t>39</a:t>
                      </a:r>
                    </a:p>
                  </a:txBody>
                  <a:tcPr marL="61286" marR="61286" marT="30643" marB="30643" anchor="ctr">
                    <a:lnL>
                      <a:noFill/>
                    </a:lnL>
                    <a:lnR>
                      <a:noFill/>
                    </a:lnR>
                    <a:lnT>
                      <a:noFill/>
                    </a:lnT>
                    <a:lnB>
                      <a:noFill/>
                    </a:lnB>
                    <a:noFill/>
                  </a:tcPr>
                </a:tc>
                <a:extLst>
                  <a:ext uri="{0D108BD9-81ED-4DB2-BD59-A6C34878D82A}">
                    <a16:rowId xmlns:a16="http://schemas.microsoft.com/office/drawing/2014/main" val="281249194"/>
                  </a:ext>
                </a:extLst>
              </a:tr>
              <a:tr h="404717">
                <a:tc>
                  <a:txBody>
                    <a:bodyPr/>
                    <a:lstStyle/>
                    <a:p>
                      <a:pPr defTabSz="360000">
                        <a:buNone/>
                      </a:pPr>
                      <a:r>
                        <a:rPr lang="en-IN" sz="1200"/>
                        <a:t>6</a:t>
                      </a:r>
                    </a:p>
                  </a:txBody>
                  <a:tcPr marL="61286" marR="61286" marT="30643" marB="30643" anchor="ctr">
                    <a:lnL>
                      <a:noFill/>
                    </a:lnL>
                    <a:lnR>
                      <a:noFill/>
                    </a:lnR>
                    <a:lnT>
                      <a:noFill/>
                    </a:lnT>
                    <a:lnB>
                      <a:noFill/>
                    </a:lnB>
                    <a:noFill/>
                  </a:tcPr>
                </a:tc>
                <a:tc>
                  <a:txBody>
                    <a:bodyPr/>
                    <a:lstStyle/>
                    <a:p>
                      <a:pPr defTabSz="360000">
                        <a:buNone/>
                      </a:pPr>
                      <a:r>
                        <a:rPr lang="en-IN" sz="1200"/>
                        <a:t>155</a:t>
                      </a:r>
                    </a:p>
                  </a:txBody>
                  <a:tcPr marL="61286" marR="61286" marT="30643" marB="30643" anchor="ctr">
                    <a:lnL>
                      <a:noFill/>
                    </a:lnL>
                    <a:lnR>
                      <a:noFill/>
                    </a:lnR>
                    <a:lnT>
                      <a:noFill/>
                    </a:lnT>
                    <a:lnB>
                      <a:noFill/>
                    </a:lnB>
                    <a:noFill/>
                  </a:tcPr>
                </a:tc>
                <a:tc>
                  <a:txBody>
                    <a:bodyPr/>
                    <a:lstStyle/>
                    <a:p>
                      <a:pPr defTabSz="360000">
                        <a:buNone/>
                      </a:pPr>
                      <a:r>
                        <a:rPr lang="en-GB" sz="1200" b="1" dirty="0"/>
                        <a:t>Mathematical Methods for Data Science</a:t>
                      </a:r>
                      <a:endParaRPr lang="en-GB" sz="1200" dirty="0"/>
                    </a:p>
                  </a:txBody>
                  <a:tcPr marL="61286" marR="61286" marT="30643" marB="30643" anchor="ctr">
                    <a:lnL>
                      <a:noFill/>
                    </a:lnL>
                    <a:lnR>
                      <a:noFill/>
                    </a:lnR>
                    <a:lnT>
                      <a:noFill/>
                    </a:lnT>
                    <a:lnB>
                      <a:noFill/>
                    </a:lnB>
                    <a:noFill/>
                  </a:tcPr>
                </a:tc>
                <a:tc>
                  <a:txBody>
                    <a:bodyPr/>
                    <a:lstStyle/>
                    <a:p>
                      <a:pPr defTabSz="360000">
                        <a:buNone/>
                      </a:pPr>
                      <a:r>
                        <a:rPr lang="en-IN" sz="1200"/>
                        <a:t>36</a:t>
                      </a:r>
                    </a:p>
                  </a:txBody>
                  <a:tcPr marL="61286" marR="61286" marT="30643" marB="30643" anchor="ctr">
                    <a:lnL>
                      <a:noFill/>
                    </a:lnL>
                    <a:lnR>
                      <a:noFill/>
                    </a:lnR>
                    <a:lnT>
                      <a:noFill/>
                    </a:lnT>
                    <a:lnB>
                      <a:noFill/>
                    </a:lnB>
                    <a:noFill/>
                  </a:tcPr>
                </a:tc>
                <a:extLst>
                  <a:ext uri="{0D108BD9-81ED-4DB2-BD59-A6C34878D82A}">
                    <a16:rowId xmlns:a16="http://schemas.microsoft.com/office/drawing/2014/main" val="1576175955"/>
                  </a:ext>
                </a:extLst>
              </a:tr>
              <a:tr h="404717">
                <a:tc>
                  <a:txBody>
                    <a:bodyPr/>
                    <a:lstStyle/>
                    <a:p>
                      <a:pPr defTabSz="360000">
                        <a:buNone/>
                      </a:pPr>
                      <a:r>
                        <a:rPr lang="en-IN" sz="1200"/>
                        <a:t>7</a:t>
                      </a:r>
                    </a:p>
                  </a:txBody>
                  <a:tcPr marL="61286" marR="61286" marT="30643" marB="30643" anchor="ctr">
                    <a:lnL>
                      <a:noFill/>
                    </a:lnL>
                    <a:lnR>
                      <a:noFill/>
                    </a:lnR>
                    <a:lnT>
                      <a:noFill/>
                    </a:lnT>
                    <a:lnB>
                      <a:noFill/>
                    </a:lnB>
                    <a:noFill/>
                  </a:tcPr>
                </a:tc>
                <a:tc>
                  <a:txBody>
                    <a:bodyPr/>
                    <a:lstStyle/>
                    <a:p>
                      <a:pPr defTabSz="360000">
                        <a:buNone/>
                      </a:pPr>
                      <a:r>
                        <a:rPr lang="en-IN" sz="1200"/>
                        <a:t>200</a:t>
                      </a:r>
                    </a:p>
                  </a:txBody>
                  <a:tcPr marL="61286" marR="61286" marT="30643" marB="30643" anchor="ctr">
                    <a:lnL>
                      <a:noFill/>
                    </a:lnL>
                    <a:lnR>
                      <a:noFill/>
                    </a:lnR>
                    <a:lnT>
                      <a:noFill/>
                    </a:lnT>
                    <a:lnB>
                      <a:noFill/>
                    </a:lnB>
                    <a:noFill/>
                  </a:tcPr>
                </a:tc>
                <a:tc>
                  <a:txBody>
                    <a:bodyPr/>
                    <a:lstStyle/>
                    <a:p>
                      <a:pPr defTabSz="360000">
                        <a:buNone/>
                      </a:pPr>
                      <a:r>
                        <a:rPr lang="en-GB" sz="1200" b="1" dirty="0"/>
                        <a:t>Building Robots with Raspberry Pi and Python</a:t>
                      </a:r>
                      <a:endParaRPr lang="en-GB" sz="1200" dirty="0"/>
                    </a:p>
                  </a:txBody>
                  <a:tcPr marL="61286" marR="61286" marT="30643" marB="30643" anchor="ctr">
                    <a:lnL>
                      <a:noFill/>
                    </a:lnL>
                    <a:lnR>
                      <a:noFill/>
                    </a:lnR>
                    <a:lnT>
                      <a:noFill/>
                    </a:lnT>
                    <a:lnB>
                      <a:noFill/>
                    </a:lnB>
                    <a:noFill/>
                  </a:tcPr>
                </a:tc>
                <a:tc>
                  <a:txBody>
                    <a:bodyPr/>
                    <a:lstStyle/>
                    <a:p>
                      <a:pPr defTabSz="360000">
                        <a:buNone/>
                      </a:pPr>
                      <a:r>
                        <a:rPr lang="en-IN" sz="1200"/>
                        <a:t>34</a:t>
                      </a:r>
                    </a:p>
                  </a:txBody>
                  <a:tcPr marL="61286" marR="61286" marT="30643" marB="30643" anchor="ctr">
                    <a:lnL>
                      <a:noFill/>
                    </a:lnL>
                    <a:lnR>
                      <a:noFill/>
                    </a:lnR>
                    <a:lnT>
                      <a:noFill/>
                    </a:lnT>
                    <a:lnB>
                      <a:noFill/>
                    </a:lnB>
                    <a:noFill/>
                  </a:tcPr>
                </a:tc>
                <a:extLst>
                  <a:ext uri="{0D108BD9-81ED-4DB2-BD59-A6C34878D82A}">
                    <a16:rowId xmlns:a16="http://schemas.microsoft.com/office/drawing/2014/main" val="619266654"/>
                  </a:ext>
                </a:extLst>
              </a:tr>
              <a:tr h="283367">
                <a:tc>
                  <a:txBody>
                    <a:bodyPr/>
                    <a:lstStyle/>
                    <a:p>
                      <a:pPr defTabSz="360000">
                        <a:buNone/>
                      </a:pPr>
                      <a:r>
                        <a:rPr lang="en-IN" sz="1200"/>
                        <a:t>8</a:t>
                      </a:r>
                    </a:p>
                  </a:txBody>
                  <a:tcPr marL="61286" marR="61286" marT="30643" marB="30643" anchor="ctr">
                    <a:lnL>
                      <a:noFill/>
                    </a:lnL>
                    <a:lnR>
                      <a:noFill/>
                    </a:lnR>
                    <a:lnT>
                      <a:noFill/>
                    </a:lnT>
                    <a:lnB>
                      <a:noFill/>
                    </a:lnB>
                    <a:noFill/>
                  </a:tcPr>
                </a:tc>
                <a:tc>
                  <a:txBody>
                    <a:bodyPr/>
                    <a:lstStyle/>
                    <a:p>
                      <a:pPr defTabSz="360000">
                        <a:buNone/>
                      </a:pPr>
                      <a:r>
                        <a:rPr lang="en-IN" sz="1200"/>
                        <a:t>157</a:t>
                      </a:r>
                    </a:p>
                  </a:txBody>
                  <a:tcPr marL="61286" marR="61286" marT="30643" marB="30643" anchor="ctr">
                    <a:lnL>
                      <a:noFill/>
                    </a:lnL>
                    <a:lnR>
                      <a:noFill/>
                    </a:lnR>
                    <a:lnT>
                      <a:noFill/>
                    </a:lnT>
                    <a:lnB>
                      <a:noFill/>
                    </a:lnB>
                    <a:noFill/>
                  </a:tcPr>
                </a:tc>
                <a:tc>
                  <a:txBody>
                    <a:bodyPr/>
                    <a:lstStyle/>
                    <a:p>
                      <a:pPr defTabSz="360000">
                        <a:buNone/>
                      </a:pPr>
                      <a:r>
                        <a:rPr lang="en-IN" sz="1200" b="1" dirty="0"/>
                        <a:t>Introduction to Deep Learning</a:t>
                      </a:r>
                      <a:endParaRPr lang="en-IN" sz="1200" dirty="0"/>
                    </a:p>
                  </a:txBody>
                  <a:tcPr marL="61286" marR="61286" marT="30643" marB="30643" anchor="ctr">
                    <a:lnL>
                      <a:noFill/>
                    </a:lnL>
                    <a:lnR>
                      <a:noFill/>
                    </a:lnR>
                    <a:lnT>
                      <a:noFill/>
                    </a:lnT>
                    <a:lnB>
                      <a:noFill/>
                    </a:lnB>
                    <a:noFill/>
                  </a:tcPr>
                </a:tc>
                <a:tc>
                  <a:txBody>
                    <a:bodyPr/>
                    <a:lstStyle/>
                    <a:p>
                      <a:pPr defTabSz="360000">
                        <a:buNone/>
                      </a:pPr>
                      <a:r>
                        <a:rPr lang="en-IN" sz="1200" dirty="0"/>
                        <a:t>31</a:t>
                      </a:r>
                    </a:p>
                  </a:txBody>
                  <a:tcPr marL="61286" marR="61286" marT="30643" marB="30643" anchor="ctr">
                    <a:lnL>
                      <a:noFill/>
                    </a:lnL>
                    <a:lnR>
                      <a:noFill/>
                    </a:lnR>
                    <a:lnT>
                      <a:noFill/>
                    </a:lnT>
                    <a:lnB>
                      <a:noFill/>
                    </a:lnB>
                    <a:noFill/>
                  </a:tcPr>
                </a:tc>
                <a:extLst>
                  <a:ext uri="{0D108BD9-81ED-4DB2-BD59-A6C34878D82A}">
                    <a16:rowId xmlns:a16="http://schemas.microsoft.com/office/drawing/2014/main" val="2054080359"/>
                  </a:ext>
                </a:extLst>
              </a:tr>
              <a:tr h="162017">
                <a:tc>
                  <a:txBody>
                    <a:bodyPr/>
                    <a:lstStyle/>
                    <a:p>
                      <a:pPr defTabSz="360000">
                        <a:buNone/>
                      </a:pPr>
                      <a:r>
                        <a:rPr lang="en-IN" sz="1200"/>
                        <a:t>9</a:t>
                      </a:r>
                    </a:p>
                  </a:txBody>
                  <a:tcPr marL="61286" marR="61286" marT="30643" marB="30643" anchor="ctr">
                    <a:lnL>
                      <a:noFill/>
                    </a:lnL>
                    <a:lnR>
                      <a:noFill/>
                    </a:lnR>
                    <a:lnT>
                      <a:noFill/>
                    </a:lnT>
                    <a:lnB>
                      <a:noFill/>
                    </a:lnB>
                    <a:noFill/>
                  </a:tcPr>
                </a:tc>
                <a:tc>
                  <a:txBody>
                    <a:bodyPr/>
                    <a:lstStyle/>
                    <a:p>
                      <a:pPr defTabSz="360000">
                        <a:buNone/>
                      </a:pPr>
                      <a:r>
                        <a:rPr lang="en-IN" sz="1200"/>
                        <a:t>196</a:t>
                      </a:r>
                    </a:p>
                  </a:txBody>
                  <a:tcPr marL="61286" marR="61286" marT="30643" marB="30643" anchor="ctr">
                    <a:lnL>
                      <a:noFill/>
                    </a:lnL>
                    <a:lnR>
                      <a:noFill/>
                    </a:lnR>
                    <a:lnT>
                      <a:noFill/>
                    </a:lnT>
                    <a:lnB>
                      <a:noFill/>
                    </a:lnB>
                    <a:noFill/>
                  </a:tcPr>
                </a:tc>
                <a:tc>
                  <a:txBody>
                    <a:bodyPr/>
                    <a:lstStyle/>
                    <a:p>
                      <a:pPr defTabSz="360000">
                        <a:buNone/>
                      </a:pPr>
                      <a:r>
                        <a:rPr lang="en-IN" sz="1200" b="1"/>
                        <a:t>Big Data 101</a:t>
                      </a:r>
                      <a:endParaRPr lang="en-IN" sz="1200"/>
                    </a:p>
                  </a:txBody>
                  <a:tcPr marL="61286" marR="61286" marT="30643" marB="30643" anchor="ctr">
                    <a:lnL>
                      <a:noFill/>
                    </a:lnL>
                    <a:lnR>
                      <a:noFill/>
                    </a:lnR>
                    <a:lnT>
                      <a:noFill/>
                    </a:lnT>
                    <a:lnB>
                      <a:noFill/>
                    </a:lnB>
                    <a:noFill/>
                  </a:tcPr>
                </a:tc>
                <a:tc>
                  <a:txBody>
                    <a:bodyPr/>
                    <a:lstStyle/>
                    <a:p>
                      <a:pPr defTabSz="360000">
                        <a:buNone/>
                      </a:pPr>
                      <a:r>
                        <a:rPr lang="en-IN" sz="1200" dirty="0"/>
                        <a:t>29</a:t>
                      </a:r>
                    </a:p>
                  </a:txBody>
                  <a:tcPr marL="61286" marR="61286" marT="30643" marB="30643" anchor="ctr">
                    <a:lnL>
                      <a:noFill/>
                    </a:lnL>
                    <a:lnR>
                      <a:noFill/>
                    </a:lnR>
                    <a:lnT>
                      <a:noFill/>
                    </a:lnT>
                    <a:lnB>
                      <a:noFill/>
                    </a:lnB>
                    <a:noFill/>
                  </a:tcPr>
                </a:tc>
                <a:extLst>
                  <a:ext uri="{0D108BD9-81ED-4DB2-BD59-A6C34878D82A}">
                    <a16:rowId xmlns:a16="http://schemas.microsoft.com/office/drawing/2014/main" val="2864192368"/>
                  </a:ext>
                </a:extLst>
              </a:tr>
              <a:tr h="283367">
                <a:tc>
                  <a:txBody>
                    <a:bodyPr/>
                    <a:lstStyle/>
                    <a:p>
                      <a:pPr defTabSz="360000">
                        <a:buNone/>
                      </a:pPr>
                      <a:r>
                        <a:rPr lang="en-IN" sz="1200"/>
                        <a:t>10</a:t>
                      </a:r>
                    </a:p>
                  </a:txBody>
                  <a:tcPr marL="61286" marR="61286" marT="30643" marB="30643" anchor="ctr">
                    <a:lnL>
                      <a:noFill/>
                    </a:lnL>
                    <a:lnR>
                      <a:noFill/>
                    </a:lnR>
                    <a:lnT>
                      <a:noFill/>
                    </a:lnT>
                    <a:lnB>
                      <a:noFill/>
                    </a:lnB>
                    <a:noFill/>
                  </a:tcPr>
                </a:tc>
                <a:tc>
                  <a:txBody>
                    <a:bodyPr/>
                    <a:lstStyle/>
                    <a:p>
                      <a:pPr defTabSz="360000">
                        <a:buNone/>
                      </a:pPr>
                      <a:r>
                        <a:rPr lang="en-IN" sz="1200"/>
                        <a:t>154</a:t>
                      </a:r>
                    </a:p>
                  </a:txBody>
                  <a:tcPr marL="61286" marR="61286" marT="30643" marB="30643" anchor="ctr">
                    <a:lnL>
                      <a:noFill/>
                    </a:lnL>
                    <a:lnR>
                      <a:noFill/>
                    </a:lnR>
                    <a:lnT>
                      <a:noFill/>
                    </a:lnT>
                    <a:lnB>
                      <a:noFill/>
                    </a:lnB>
                    <a:noFill/>
                  </a:tcPr>
                </a:tc>
                <a:tc>
                  <a:txBody>
                    <a:bodyPr/>
                    <a:lstStyle/>
                    <a:p>
                      <a:pPr defTabSz="360000">
                        <a:buNone/>
                      </a:pPr>
                      <a:r>
                        <a:rPr lang="en-IN" sz="1200" b="1"/>
                        <a:t>Data Science Methodology</a:t>
                      </a:r>
                      <a:endParaRPr lang="en-IN" sz="1200"/>
                    </a:p>
                  </a:txBody>
                  <a:tcPr marL="61286" marR="61286" marT="30643" marB="30643" anchor="ctr">
                    <a:lnL>
                      <a:noFill/>
                    </a:lnL>
                    <a:lnR>
                      <a:noFill/>
                    </a:lnR>
                    <a:lnT>
                      <a:noFill/>
                    </a:lnT>
                    <a:lnB>
                      <a:noFill/>
                    </a:lnB>
                    <a:noFill/>
                  </a:tcPr>
                </a:tc>
                <a:tc>
                  <a:txBody>
                    <a:bodyPr/>
                    <a:lstStyle/>
                    <a:p>
                      <a:pPr defTabSz="360000">
                        <a:buNone/>
                      </a:pPr>
                      <a:r>
                        <a:rPr lang="en-IN" sz="1200" dirty="0"/>
                        <a:t>26</a:t>
                      </a:r>
                    </a:p>
                  </a:txBody>
                  <a:tcPr marL="61286" marR="61286" marT="30643" marB="30643" anchor="ctr">
                    <a:lnL>
                      <a:noFill/>
                    </a:lnL>
                    <a:lnR>
                      <a:noFill/>
                    </a:lnR>
                    <a:lnT>
                      <a:noFill/>
                    </a:lnT>
                    <a:lnB>
                      <a:noFill/>
                    </a:lnB>
                    <a:noFill/>
                  </a:tcPr>
                </a:tc>
                <a:extLst>
                  <a:ext uri="{0D108BD9-81ED-4DB2-BD59-A6C34878D82A}">
                    <a16:rowId xmlns:a16="http://schemas.microsoft.com/office/drawing/2014/main" val="3741057418"/>
                  </a:ext>
                </a:extLst>
              </a:tr>
            </a:tbl>
          </a:graphicData>
        </a:graphic>
      </p:graphicFrame>
    </p:spTree>
    <p:extLst>
      <p:ext uri="{BB962C8B-B14F-4D97-AF65-F5344CB8AC3E}">
        <p14:creationId xmlns:p14="http://schemas.microsoft.com/office/powerpoint/2010/main" val="3676389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a:xfrm>
            <a:off x="1164771" y="111153"/>
            <a:ext cx="10515600" cy="507943"/>
          </a:xfrm>
        </p:spPr>
        <p:txBody>
          <a:bodyPr/>
          <a:lstStyle/>
          <a:p>
            <a:r>
              <a:rPr lang="en-US" sz="2000" u="sng" dirty="0">
                <a:solidFill>
                  <a:srgbClr val="0B49CB"/>
                </a:solidFill>
                <a:latin typeface="Abadi"/>
              </a:rPr>
              <a:t>Flowchart of clustering-based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947972" y="391220"/>
            <a:ext cx="10515600" cy="4011746"/>
          </a:xfrm>
          <a:prstGeom prst="rect">
            <a:avLst/>
          </a:prstGeom>
          <a:ln>
            <a:solidFill>
              <a:srgbClr val="0B49CB"/>
            </a:solidFill>
            <a:prstDash val="dash"/>
          </a:ln>
        </p:spPr>
        <p:txBody>
          <a:bodyPr vert="horz" lIns="91440" tIns="45720" rIns="91440" bIns="45720" rtlCol="0" anchor="t">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a:buFontTx/>
              <a:buChar char="-"/>
            </a:pPr>
            <a:r>
              <a:rPr lang="en-US" sz="2000" dirty="0">
                <a:solidFill>
                  <a:srgbClr val="1C7DDB"/>
                </a:solidFill>
                <a:latin typeface="Abadi"/>
              </a:rPr>
              <a:t>Data Processing &amp; User Profiles: The system starts with raw enrollment and rating data. It generates user profile vectors where each row represents a user and columns represent course genres (e.g., Database, Python, Machine Learning).</a:t>
            </a:r>
          </a:p>
          <a:p>
            <a:pPr>
              <a:buFontTx/>
              <a:buChar char="-"/>
            </a:pPr>
            <a:r>
              <a:rPr lang="en-GB" sz="2000" dirty="0">
                <a:solidFill>
                  <a:srgbClr val="1C7DDB"/>
                </a:solidFill>
                <a:latin typeface="Abadi"/>
              </a:rPr>
              <a:t>Normalization: Because course </a:t>
            </a:r>
            <a:r>
              <a:rPr lang="en-GB" sz="2000" dirty="0" err="1">
                <a:solidFill>
                  <a:srgbClr val="1C7DDB"/>
                </a:solidFill>
                <a:latin typeface="Abadi"/>
              </a:rPr>
              <a:t>enrollment</a:t>
            </a:r>
            <a:r>
              <a:rPr lang="en-GB" sz="2000" dirty="0">
                <a:solidFill>
                  <a:srgbClr val="1C7DDB"/>
                </a:solidFill>
                <a:latin typeface="Abadi"/>
              </a:rPr>
              <a:t> counts vary, the vectors are standardized using a </a:t>
            </a:r>
            <a:r>
              <a:rPr lang="en-GB" sz="2000" dirty="0" err="1">
                <a:solidFill>
                  <a:srgbClr val="1C7DDB"/>
                </a:solidFill>
                <a:latin typeface="Abadi"/>
              </a:rPr>
              <a:t>StandardScaler</a:t>
            </a:r>
            <a:r>
              <a:rPr lang="en-GB" sz="2000" dirty="0">
                <a:solidFill>
                  <a:srgbClr val="1C7DDB"/>
                </a:solidFill>
                <a:latin typeface="Abadi"/>
              </a:rPr>
              <a:t> to ensure each feature has a mean of 0 and a standard deviation of 1</a:t>
            </a:r>
          </a:p>
          <a:p>
            <a:pPr>
              <a:buFontTx/>
              <a:buChar char="-"/>
            </a:pPr>
            <a:r>
              <a:rPr lang="en-GB" sz="2000" dirty="0">
                <a:solidFill>
                  <a:srgbClr val="1C7DDB"/>
                </a:solidFill>
                <a:latin typeface="Abadi"/>
              </a:rPr>
              <a:t>Feature Engineering (PCA): To remove correlations between similar genres (like Machine Learning and Data Science), Principal Component Analysis (PCA) is applied. The notebook identifies that 9 components are sufficient to explain over 90% of the data variance.</a:t>
            </a:r>
          </a:p>
          <a:p>
            <a:pPr>
              <a:buFontTx/>
              <a:buChar char="-"/>
            </a:pPr>
            <a:r>
              <a:rPr lang="en-GB" sz="2000" dirty="0">
                <a:solidFill>
                  <a:srgbClr val="1C7DDB"/>
                </a:solidFill>
                <a:latin typeface="Abadi"/>
              </a:rPr>
              <a:t>Clustering: The reduced feature vectors are fed into a K-Means clustering algorithm. An "Elbow Method" plot is used to find the optimal number of clusters (e.g., $k=20$), grouping users with similar learning paths together.</a:t>
            </a:r>
          </a:p>
          <a:p>
            <a:pPr>
              <a:buFontTx/>
              <a:buChar char="-"/>
            </a:pPr>
            <a:r>
              <a:rPr lang="en-GB" sz="2000" dirty="0">
                <a:solidFill>
                  <a:srgbClr val="1C7DDB"/>
                </a:solidFill>
                <a:latin typeface="Abadi"/>
              </a:rPr>
              <a:t>Recommendation Generation: For a target user, the system:</a:t>
            </a:r>
          </a:p>
          <a:p>
            <a:pPr>
              <a:buFontTx/>
              <a:buChar char="-"/>
            </a:pPr>
            <a:endParaRPr lang="en-GB" sz="2000" dirty="0">
              <a:solidFill>
                <a:srgbClr val="1C7DDB"/>
              </a:solidFill>
              <a:latin typeface="Abadi"/>
            </a:endParaRPr>
          </a:p>
          <a:p>
            <a:pPr lvl="1">
              <a:buFontTx/>
              <a:buChar char="-"/>
            </a:pPr>
            <a:r>
              <a:rPr lang="en-GB" sz="2000" dirty="0">
                <a:solidFill>
                  <a:srgbClr val="1C7DDB"/>
                </a:solidFill>
                <a:latin typeface="Abadi"/>
              </a:rPr>
              <a:t>Identifies their assigned cluster.</a:t>
            </a:r>
          </a:p>
          <a:p>
            <a:pPr lvl="1">
              <a:buFontTx/>
              <a:buChar char="-"/>
            </a:pPr>
            <a:endParaRPr lang="en-GB" sz="2000" dirty="0">
              <a:solidFill>
                <a:srgbClr val="1C7DDB"/>
              </a:solidFill>
              <a:latin typeface="Abadi"/>
            </a:endParaRPr>
          </a:p>
          <a:p>
            <a:pPr lvl="1">
              <a:buFontTx/>
              <a:buChar char="-"/>
            </a:pPr>
            <a:r>
              <a:rPr lang="en-GB" sz="2000" dirty="0">
                <a:solidFill>
                  <a:srgbClr val="1C7DDB"/>
                </a:solidFill>
                <a:latin typeface="Abadi"/>
              </a:rPr>
              <a:t>Finds the most popular courses within that cluster (courses with </a:t>
            </a:r>
            <a:r>
              <a:rPr lang="en-GB" sz="2000" dirty="0" err="1">
                <a:solidFill>
                  <a:srgbClr val="1C7DDB"/>
                </a:solidFill>
                <a:latin typeface="Abadi"/>
              </a:rPr>
              <a:t>enrollment</a:t>
            </a:r>
            <a:r>
              <a:rPr lang="en-GB" sz="2000" dirty="0">
                <a:solidFill>
                  <a:srgbClr val="1C7DDB"/>
                </a:solidFill>
                <a:latin typeface="Abadi"/>
              </a:rPr>
              <a:t> counts above a specific threshold).</a:t>
            </a:r>
          </a:p>
          <a:p>
            <a:pPr lvl="1">
              <a:buFontTx/>
              <a:buChar char="-"/>
            </a:pPr>
            <a:endParaRPr lang="en-GB" sz="2000" dirty="0">
              <a:solidFill>
                <a:srgbClr val="1C7DDB"/>
              </a:solidFill>
              <a:latin typeface="Abadi"/>
            </a:endParaRPr>
          </a:p>
          <a:p>
            <a:pPr lvl="1">
              <a:buFontTx/>
              <a:buChar char="-"/>
            </a:pPr>
            <a:r>
              <a:rPr lang="en-GB" sz="2000" dirty="0">
                <a:solidFill>
                  <a:srgbClr val="1C7DDB"/>
                </a:solidFill>
                <a:latin typeface="Abadi"/>
              </a:rPr>
              <a:t>Filters out courses the user has already completed.</a:t>
            </a:r>
          </a:p>
          <a:p>
            <a:pPr lvl="1">
              <a:buFontTx/>
              <a:buChar char="-"/>
            </a:pPr>
            <a:endParaRPr lang="en-GB" sz="2000" dirty="0"/>
          </a:p>
          <a:p>
            <a:pPr lvl="1">
              <a:buFontTx/>
              <a:buChar char="-"/>
            </a:pPr>
            <a:r>
              <a:rPr lang="en-GB" sz="2100" dirty="0">
                <a:solidFill>
                  <a:srgbClr val="1C7DDB"/>
                </a:solidFill>
                <a:latin typeface="Abadi"/>
              </a:rPr>
              <a:t>Returns the remaining top courses as the final recommendation list.</a:t>
            </a:r>
          </a:p>
          <a:p>
            <a:pPr>
              <a:buFontTx/>
              <a:buChar char="-"/>
            </a:pPr>
            <a:endParaRPr lang="en-US" sz="2000" dirty="0">
              <a:solidFill>
                <a:srgbClr val="1C7DDB"/>
              </a:solidFill>
              <a:latin typeface="Abad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 </a:t>
            </a:r>
            <a:r>
              <a:rPr lang="en-US" dirty="0" err="1">
                <a:solidFill>
                  <a:schemeClr val="tx1"/>
                </a:solidFill>
              </a:rPr>
              <a:t>Engg</a:t>
            </a:r>
            <a:r>
              <a:rPr lang="en-US" dirty="0">
                <a:solidFill>
                  <a:schemeClr val="tx1"/>
                </a:solidFill>
              </a:rPr>
              <a:t>.</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4211045"/>
            <a:ext cx="1645920" cy="67376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 Processing	</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Normalization	</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Clustering	</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Recommendation Generation</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581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a:xfrm>
            <a:off x="838200" y="71210"/>
            <a:ext cx="10515600" cy="1325563"/>
          </a:xfrm>
        </p:spPr>
        <p:txBody>
          <a:bodyPr/>
          <a:lstStyle/>
          <a:p>
            <a:r>
              <a:rPr lang="en-US" sz="2000" dirty="0">
                <a:solidFill>
                  <a:srgbClr val="0B49CB"/>
                </a:solidFill>
                <a:latin typeface="Abadi"/>
              </a:rPr>
              <a:t>Evaluation results of clustering-based recommender system</a:t>
            </a: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566057" y="3791111"/>
            <a:ext cx="4720206" cy="3081710"/>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200" dirty="0">
              <a:solidFill>
                <a:srgbClr val="1C7DDB"/>
              </a:solidFill>
              <a:latin typeface="Abadi"/>
            </a:endParaRPr>
          </a:p>
          <a:p>
            <a:pPr marL="0" indent="0">
              <a:buNone/>
            </a:pPr>
            <a:endParaRPr lang="en-US" sz="1200" dirty="0">
              <a:solidFill>
                <a:srgbClr val="1C7DDB"/>
              </a:solidFill>
              <a:latin typeface="Abadi"/>
            </a:endParaRPr>
          </a:p>
          <a:p>
            <a:pPr marL="0" indent="0">
              <a:buNone/>
            </a:pPr>
            <a:endParaRPr lang="en-US" sz="1200" dirty="0">
              <a:solidFill>
                <a:srgbClr val="1C7DDB"/>
              </a:solidFill>
              <a:latin typeface="Abadi"/>
            </a:endParaRPr>
          </a:p>
          <a:p>
            <a:pPr marL="0" indent="0">
              <a:buNone/>
            </a:pPr>
            <a:r>
              <a:rPr lang="en-GB" sz="1200" dirty="0">
                <a:solidFill>
                  <a:srgbClr val="1C7DDB"/>
                </a:solidFill>
                <a:latin typeface="Abadi"/>
              </a:rPr>
              <a:t>an average of 19.99 new or unseen courses were recommended per user in the test dataset.</a:t>
            </a:r>
            <a:endParaRPr lang="en-US" sz="1200" dirty="0">
              <a:cs typeface="Calibri"/>
            </a:endParaRPr>
          </a:p>
        </p:txBody>
      </p:sp>
      <p:graphicFrame>
        <p:nvGraphicFramePr>
          <p:cNvPr id="2" name="Table 1">
            <a:extLst>
              <a:ext uri="{FF2B5EF4-FFF2-40B4-BE49-F238E27FC236}">
                <a16:creationId xmlns:a16="http://schemas.microsoft.com/office/drawing/2014/main" id="{6A11A15A-7EAA-5613-561D-A6517FCBB5F8}"/>
              </a:ext>
            </a:extLst>
          </p:cNvPr>
          <p:cNvGraphicFramePr>
            <a:graphicFrameLocks noGrp="1"/>
          </p:cNvGraphicFramePr>
          <p:nvPr>
            <p:extLst>
              <p:ext uri="{D42A27DB-BD31-4B8C-83A1-F6EECF244321}">
                <p14:modId xmlns:p14="http://schemas.microsoft.com/office/powerpoint/2010/main" val="539971377"/>
              </p:ext>
            </p:extLst>
          </p:nvPr>
        </p:nvGraphicFramePr>
        <p:xfrm>
          <a:off x="566057" y="461849"/>
          <a:ext cx="11277600" cy="3305848"/>
        </p:xfrm>
        <a:graphic>
          <a:graphicData uri="http://schemas.openxmlformats.org/drawingml/2006/table">
            <a:tbl>
              <a:tblPr/>
              <a:tblGrid>
                <a:gridCol w="2819400">
                  <a:extLst>
                    <a:ext uri="{9D8B030D-6E8A-4147-A177-3AD203B41FA5}">
                      <a16:colId xmlns:a16="http://schemas.microsoft.com/office/drawing/2014/main" val="3547531504"/>
                    </a:ext>
                  </a:extLst>
                </a:gridCol>
                <a:gridCol w="2819400">
                  <a:extLst>
                    <a:ext uri="{9D8B030D-6E8A-4147-A177-3AD203B41FA5}">
                      <a16:colId xmlns:a16="http://schemas.microsoft.com/office/drawing/2014/main" val="2076908510"/>
                    </a:ext>
                  </a:extLst>
                </a:gridCol>
                <a:gridCol w="2819400">
                  <a:extLst>
                    <a:ext uri="{9D8B030D-6E8A-4147-A177-3AD203B41FA5}">
                      <a16:colId xmlns:a16="http://schemas.microsoft.com/office/drawing/2014/main" val="2987663460"/>
                    </a:ext>
                  </a:extLst>
                </a:gridCol>
                <a:gridCol w="2819400">
                  <a:extLst>
                    <a:ext uri="{9D8B030D-6E8A-4147-A177-3AD203B41FA5}">
                      <a16:colId xmlns:a16="http://schemas.microsoft.com/office/drawing/2014/main" val="3658199744"/>
                    </a:ext>
                  </a:extLst>
                </a:gridCol>
              </a:tblGrid>
              <a:tr h="144928">
                <a:tc>
                  <a:txBody>
                    <a:bodyPr/>
                    <a:lstStyle/>
                    <a:p>
                      <a:pPr rtl="0">
                        <a:buNone/>
                      </a:pPr>
                      <a:r>
                        <a:rPr lang="en-IN" sz="1200" b="1">
                          <a:solidFill>
                            <a:srgbClr val="1F1F1F"/>
                          </a:solidFill>
                          <a:effectLst/>
                          <a:latin typeface="Google Sans Text"/>
                        </a:rPr>
                        <a:t>Category</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b="1" dirty="0">
                          <a:solidFill>
                            <a:srgbClr val="1F1F1F"/>
                          </a:solidFill>
                          <a:effectLst/>
                          <a:latin typeface="Google Sans Text"/>
                        </a:rPr>
                        <a:t>Parameter</a:t>
                      </a:r>
                      <a:endParaRPr lang="en-IN" sz="1200" dirty="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b="1">
                          <a:solidFill>
                            <a:srgbClr val="1F1F1F"/>
                          </a:solidFill>
                          <a:effectLst/>
                          <a:latin typeface="Google Sans Text"/>
                        </a:rPr>
                        <a:t>Setting / Threshold</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b="1">
                          <a:solidFill>
                            <a:srgbClr val="1F1F1F"/>
                          </a:solidFill>
                          <a:effectLst/>
                          <a:latin typeface="Google Sans Text"/>
                        </a:rPr>
                        <a:t>Description</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31437974"/>
                  </a:ext>
                </a:extLst>
              </a:tr>
              <a:tr h="346416">
                <a:tc>
                  <a:txBody>
                    <a:bodyPr/>
                    <a:lstStyle/>
                    <a:p>
                      <a:pPr rtl="0">
                        <a:buNone/>
                      </a:pPr>
                      <a:r>
                        <a:rPr lang="en-IN" sz="1200" b="1" dirty="0">
                          <a:solidFill>
                            <a:srgbClr val="1F1F1F"/>
                          </a:solidFill>
                          <a:effectLst/>
                          <a:latin typeface="Google Sans Text"/>
                        </a:rPr>
                        <a:t>General</a:t>
                      </a:r>
                      <a:endParaRPr lang="en-IN" sz="1200" dirty="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b="1">
                          <a:solidFill>
                            <a:srgbClr val="1F1F1F"/>
                          </a:solidFill>
                          <a:effectLst/>
                          <a:latin typeface="Google Sans Text"/>
                        </a:rPr>
                        <a:t>Random State</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a:solidFill>
                            <a:srgbClr val="444746"/>
                          </a:solidFill>
                          <a:effectLst/>
                          <a:latin typeface="Google Sans Text"/>
                        </a:rPr>
                        <a:t>123</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GB" sz="1200">
                          <a:solidFill>
                            <a:srgbClr val="1F1F1F"/>
                          </a:solidFill>
                          <a:effectLst/>
                          <a:latin typeface="Google Sans Text"/>
                        </a:rPr>
                        <a:t>Used to ensure reproducibility across KMeans and PCA models.</a:t>
                      </a: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58149922"/>
                  </a:ext>
                </a:extLst>
              </a:tr>
              <a:tr h="346416">
                <a:tc>
                  <a:txBody>
                    <a:bodyPr/>
                    <a:lstStyle/>
                    <a:p>
                      <a:pPr rtl="0">
                        <a:buNone/>
                      </a:pPr>
                      <a:r>
                        <a:rPr lang="en-IN" sz="1200" b="1">
                          <a:solidFill>
                            <a:srgbClr val="1F1F1F"/>
                          </a:solidFill>
                          <a:effectLst/>
                          <a:latin typeface="Google Sans Text"/>
                        </a:rPr>
                        <a:t>Clustering</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b="1">
                          <a:solidFill>
                            <a:srgbClr val="1F1F1F"/>
                          </a:solidFill>
                          <a:effectLst/>
                          <a:latin typeface="Google Sans Text"/>
                        </a:rPr>
                        <a:t>KMeans Clusters ($k$)</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a:solidFill>
                            <a:srgbClr val="444746"/>
                          </a:solidFill>
                          <a:effectLst/>
                          <a:latin typeface="Google Sans Text"/>
                        </a:rPr>
                        <a:t>20</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GB" sz="1200">
                          <a:solidFill>
                            <a:srgbClr val="1F1F1F"/>
                          </a:solidFill>
                          <a:effectLst/>
                          <a:latin typeface="Google Sans Text"/>
                        </a:rPr>
                        <a:t>Determined using the Elbow Method to group users into communities.</a:t>
                      </a: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82139707"/>
                  </a:ext>
                </a:extLst>
              </a:tr>
              <a:tr h="346416">
                <a:tc>
                  <a:txBody>
                    <a:bodyPr/>
                    <a:lstStyle/>
                    <a:p>
                      <a:pPr rtl="0">
                        <a:buNone/>
                      </a:pPr>
                      <a:r>
                        <a:rPr lang="en-IN" sz="1200" b="1">
                          <a:solidFill>
                            <a:srgbClr val="1F1F1F"/>
                          </a:solidFill>
                          <a:effectLst/>
                          <a:latin typeface="Google Sans Text"/>
                        </a:rPr>
                        <a:t>Dimensionality Reduction</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b="1" dirty="0">
                          <a:solidFill>
                            <a:srgbClr val="1F1F1F"/>
                          </a:solidFill>
                          <a:effectLst/>
                          <a:latin typeface="Google Sans Text"/>
                        </a:rPr>
                        <a:t>Variance Threshold</a:t>
                      </a:r>
                      <a:endParaRPr lang="en-IN" sz="1200" dirty="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a:solidFill>
                            <a:srgbClr val="444746"/>
                          </a:solidFill>
                          <a:effectLst/>
                          <a:latin typeface="Google Sans Text"/>
                        </a:rPr>
                        <a:t>90%</a:t>
                      </a:r>
                      <a:r>
                        <a:rPr lang="en-IN" sz="1200">
                          <a:solidFill>
                            <a:srgbClr val="1F1F1F"/>
                          </a:solidFill>
                          <a:effectLst/>
                          <a:latin typeface="Google Sans Text"/>
                        </a:rPr>
                        <a:t> (0.9)</a:t>
                      </a: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GB" sz="1200">
                          <a:solidFill>
                            <a:srgbClr val="1F1F1F"/>
                          </a:solidFill>
                          <a:effectLst/>
                          <a:latin typeface="Google Sans Text"/>
                        </a:rPr>
                        <a:t>The cumulative variance required to be explained by PCA components.</a:t>
                      </a: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01276575"/>
                  </a:ext>
                </a:extLst>
              </a:tr>
              <a:tr h="447160">
                <a:tc>
                  <a:txBody>
                    <a:bodyPr/>
                    <a:lstStyle/>
                    <a:p>
                      <a:pPr rtl="0">
                        <a:buNone/>
                      </a:pPr>
                      <a:r>
                        <a:rPr lang="en-IN" sz="1200" b="1" dirty="0">
                          <a:solidFill>
                            <a:srgbClr val="1F1F1F"/>
                          </a:solidFill>
                          <a:effectLst/>
                          <a:latin typeface="Google Sans Text"/>
                        </a:rPr>
                        <a:t>Dimensionality Reduction</a:t>
                      </a:r>
                      <a:endParaRPr lang="en-IN" sz="1200" dirty="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b="1">
                          <a:solidFill>
                            <a:srgbClr val="1F1F1F"/>
                          </a:solidFill>
                          <a:effectLst/>
                          <a:latin typeface="Google Sans Text"/>
                        </a:rPr>
                        <a:t>PCA Components</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a:solidFill>
                            <a:srgbClr val="444746"/>
                          </a:solidFill>
                          <a:effectLst/>
                          <a:latin typeface="Google Sans Text"/>
                        </a:rPr>
                        <a:t>9</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GB" sz="1200">
                          <a:solidFill>
                            <a:srgbClr val="1F1F1F"/>
                          </a:solidFill>
                          <a:effectLst/>
                          <a:latin typeface="Google Sans Text"/>
                        </a:rPr>
                        <a:t>The minimal number of components needed to reach the 90% variance threshold.</a:t>
                      </a: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37939991"/>
                  </a:ext>
                </a:extLst>
              </a:tr>
              <a:tr h="447160">
                <a:tc>
                  <a:txBody>
                    <a:bodyPr/>
                    <a:lstStyle/>
                    <a:p>
                      <a:pPr rtl="0">
                        <a:buNone/>
                      </a:pPr>
                      <a:r>
                        <a:rPr lang="en-IN" sz="1200" b="1">
                          <a:solidFill>
                            <a:srgbClr val="1F1F1F"/>
                          </a:solidFill>
                          <a:effectLst/>
                          <a:latin typeface="Google Sans Text"/>
                        </a:rPr>
                        <a:t>Recommendations</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b="1" dirty="0" err="1">
                          <a:solidFill>
                            <a:srgbClr val="1F1F1F"/>
                          </a:solidFill>
                          <a:effectLst/>
                          <a:latin typeface="Google Sans Text"/>
                        </a:rPr>
                        <a:t>Enrollment</a:t>
                      </a:r>
                      <a:r>
                        <a:rPr lang="en-IN" sz="1200" b="1" dirty="0">
                          <a:solidFill>
                            <a:srgbClr val="1F1F1F"/>
                          </a:solidFill>
                          <a:effectLst/>
                          <a:latin typeface="Google Sans Text"/>
                        </a:rPr>
                        <a:t> Threshold</a:t>
                      </a:r>
                      <a:endParaRPr lang="en-IN" sz="1200" dirty="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dirty="0">
                          <a:solidFill>
                            <a:srgbClr val="444746"/>
                          </a:solidFill>
                          <a:effectLst/>
                          <a:latin typeface="Google Sans Text"/>
                        </a:rPr>
                        <a:t>&gt; 10</a:t>
                      </a:r>
                      <a:endParaRPr lang="en-IN" sz="1200" dirty="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GB" sz="1200">
                          <a:solidFill>
                            <a:srgbClr val="1F1F1F"/>
                          </a:solidFill>
                          <a:effectLst/>
                          <a:latin typeface="Google Sans Text"/>
                        </a:rPr>
                        <a:t>The minimum number of enrollments within a cluster for a course to be deemed "popular."</a:t>
                      </a: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46311910"/>
                  </a:ext>
                </a:extLst>
              </a:tr>
              <a:tr h="447160">
                <a:tc>
                  <a:txBody>
                    <a:bodyPr/>
                    <a:lstStyle/>
                    <a:p>
                      <a:pPr rtl="0">
                        <a:buNone/>
                      </a:pPr>
                      <a:r>
                        <a:rPr lang="en-IN" sz="1200" b="1" dirty="0">
                          <a:solidFill>
                            <a:srgbClr val="1F1F1F"/>
                          </a:solidFill>
                          <a:effectLst/>
                          <a:latin typeface="Google Sans Text"/>
                        </a:rPr>
                        <a:t>Recommendations</a:t>
                      </a:r>
                      <a:endParaRPr lang="en-IN" sz="1200" dirty="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b="1">
                          <a:solidFill>
                            <a:srgbClr val="1F1F1F"/>
                          </a:solidFill>
                          <a:effectLst/>
                          <a:latin typeface="Google Sans Text"/>
                        </a:rPr>
                        <a:t>Max Recommendations</a:t>
                      </a:r>
                      <a:endParaRPr lang="en-IN" sz="120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200" dirty="0">
                          <a:solidFill>
                            <a:srgbClr val="444746"/>
                          </a:solidFill>
                          <a:effectLst/>
                          <a:latin typeface="Google Sans Text"/>
                        </a:rPr>
                        <a:t>20</a:t>
                      </a:r>
                      <a:endParaRPr lang="en-IN" sz="1200" dirty="0">
                        <a:solidFill>
                          <a:srgbClr val="1F1F1F"/>
                        </a:solidFill>
                        <a:effectLst/>
                        <a:latin typeface="Google Sans Text"/>
                      </a:endParaRP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GB" sz="1200" dirty="0">
                          <a:solidFill>
                            <a:srgbClr val="1F1F1F"/>
                          </a:solidFill>
                          <a:effectLst/>
                          <a:latin typeface="Google Sans Text"/>
                        </a:rPr>
                        <a:t>The maximum number of unseen courses suggested to a single user.</a:t>
                      </a:r>
                    </a:p>
                  </a:txBody>
                  <a:tcPr marL="60157" marR="60157" marT="40104" marB="4010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37262906"/>
                  </a:ext>
                </a:extLst>
              </a:tr>
            </a:tbl>
          </a:graphicData>
        </a:graphic>
      </p:graphicFrame>
      <p:graphicFrame>
        <p:nvGraphicFramePr>
          <p:cNvPr id="3" name="Table 2">
            <a:extLst>
              <a:ext uri="{FF2B5EF4-FFF2-40B4-BE49-F238E27FC236}">
                <a16:creationId xmlns:a16="http://schemas.microsoft.com/office/drawing/2014/main" id="{B9B33158-520E-2ED4-5A8A-FDD2011F005E}"/>
              </a:ext>
            </a:extLst>
          </p:cNvPr>
          <p:cNvGraphicFramePr>
            <a:graphicFrameLocks noGrp="1"/>
          </p:cNvGraphicFramePr>
          <p:nvPr>
            <p:extLst>
              <p:ext uri="{D42A27DB-BD31-4B8C-83A1-F6EECF244321}">
                <p14:modId xmlns:p14="http://schemas.microsoft.com/office/powerpoint/2010/main" val="445648692"/>
              </p:ext>
            </p:extLst>
          </p:nvPr>
        </p:nvGraphicFramePr>
        <p:xfrm>
          <a:off x="5519058" y="3757768"/>
          <a:ext cx="6509658" cy="3088388"/>
        </p:xfrm>
        <a:graphic>
          <a:graphicData uri="http://schemas.openxmlformats.org/drawingml/2006/table">
            <a:tbl>
              <a:tblPr/>
              <a:tblGrid>
                <a:gridCol w="2169886">
                  <a:extLst>
                    <a:ext uri="{9D8B030D-6E8A-4147-A177-3AD203B41FA5}">
                      <a16:colId xmlns:a16="http://schemas.microsoft.com/office/drawing/2014/main" val="1355255455"/>
                    </a:ext>
                  </a:extLst>
                </a:gridCol>
                <a:gridCol w="2169886">
                  <a:extLst>
                    <a:ext uri="{9D8B030D-6E8A-4147-A177-3AD203B41FA5}">
                      <a16:colId xmlns:a16="http://schemas.microsoft.com/office/drawing/2014/main" val="868518926"/>
                    </a:ext>
                  </a:extLst>
                </a:gridCol>
                <a:gridCol w="2169886">
                  <a:extLst>
                    <a:ext uri="{9D8B030D-6E8A-4147-A177-3AD203B41FA5}">
                      <a16:colId xmlns:a16="http://schemas.microsoft.com/office/drawing/2014/main" val="4132279335"/>
                    </a:ext>
                  </a:extLst>
                </a:gridCol>
              </a:tblGrid>
              <a:tr h="208521">
                <a:tc>
                  <a:txBody>
                    <a:bodyPr/>
                    <a:lstStyle/>
                    <a:p>
                      <a:pPr rtl="0">
                        <a:buNone/>
                      </a:pPr>
                      <a:r>
                        <a:rPr lang="en-IN" sz="1000" b="1">
                          <a:solidFill>
                            <a:srgbClr val="1F1F1F"/>
                          </a:solidFill>
                          <a:effectLst/>
                          <a:latin typeface="Google Sans Text"/>
                        </a:rPr>
                        <a:t>Rank</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Course ID</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Course Title</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39960282"/>
                  </a:ext>
                </a:extLst>
              </a:tr>
              <a:tr h="208521">
                <a:tc>
                  <a:txBody>
                    <a:bodyPr/>
                    <a:lstStyle/>
                    <a:p>
                      <a:pPr rtl="0">
                        <a:buNone/>
                      </a:pPr>
                      <a:r>
                        <a:rPr lang="en-IN" sz="1000">
                          <a:solidFill>
                            <a:srgbClr val="1F1F1F"/>
                          </a:solidFill>
                          <a:effectLst/>
                          <a:latin typeface="Google Sans Text"/>
                        </a:rPr>
                        <a:t>1</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ML0101ENv3</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Machine Learning with Python</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34835643"/>
                  </a:ext>
                </a:extLst>
              </a:tr>
              <a:tr h="208521">
                <a:tc>
                  <a:txBody>
                    <a:bodyPr/>
                    <a:lstStyle/>
                    <a:p>
                      <a:pPr rtl="0">
                        <a:buNone/>
                      </a:pPr>
                      <a:r>
                        <a:rPr lang="en-IN" sz="1000">
                          <a:solidFill>
                            <a:srgbClr val="1F1F1F"/>
                          </a:solidFill>
                          <a:effectLst/>
                          <a:latin typeface="Google Sans Text"/>
                        </a:rPr>
                        <a:t>2</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DS0101EN</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Introduction to Data Science</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8932732"/>
                  </a:ext>
                </a:extLst>
              </a:tr>
              <a:tr h="208521">
                <a:tc>
                  <a:txBody>
                    <a:bodyPr/>
                    <a:lstStyle/>
                    <a:p>
                      <a:pPr rtl="0">
                        <a:buNone/>
                      </a:pPr>
                      <a:r>
                        <a:rPr lang="en-IN" sz="1000">
                          <a:solidFill>
                            <a:srgbClr val="1F1F1F"/>
                          </a:solidFill>
                          <a:effectLst/>
                          <a:latin typeface="Google Sans Text"/>
                        </a:rPr>
                        <a:t>3</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DS0301EN</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Data Science Methodology</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94660957"/>
                  </a:ext>
                </a:extLst>
              </a:tr>
              <a:tr h="208521">
                <a:tc>
                  <a:txBody>
                    <a:bodyPr/>
                    <a:lstStyle/>
                    <a:p>
                      <a:pPr rtl="0">
                        <a:buNone/>
                      </a:pPr>
                      <a:r>
                        <a:rPr lang="en-IN" sz="1000">
                          <a:solidFill>
                            <a:srgbClr val="1F1F1F"/>
                          </a:solidFill>
                          <a:effectLst/>
                          <a:latin typeface="Google Sans Text"/>
                        </a:rPr>
                        <a:t>4</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DS0103EN</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Data Science Tools</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21671866"/>
                  </a:ext>
                </a:extLst>
              </a:tr>
              <a:tr h="327582">
                <a:tc>
                  <a:txBody>
                    <a:bodyPr/>
                    <a:lstStyle/>
                    <a:p>
                      <a:pPr rtl="0">
                        <a:buNone/>
                      </a:pPr>
                      <a:r>
                        <a:rPr lang="en-IN" sz="1000">
                          <a:solidFill>
                            <a:srgbClr val="1F1F1F"/>
                          </a:solidFill>
                          <a:effectLst/>
                          <a:latin typeface="Google Sans Text"/>
                        </a:rPr>
                        <a:t>5</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PY0101EN</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Python for Data Science, AI &amp; Development</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8860459"/>
                  </a:ext>
                </a:extLst>
              </a:tr>
              <a:tr h="208521">
                <a:tc>
                  <a:txBody>
                    <a:bodyPr/>
                    <a:lstStyle/>
                    <a:p>
                      <a:pPr rtl="0">
                        <a:buNone/>
                      </a:pPr>
                      <a:r>
                        <a:rPr lang="en-IN" sz="1000">
                          <a:solidFill>
                            <a:srgbClr val="1F1F1F"/>
                          </a:solidFill>
                          <a:effectLst/>
                          <a:latin typeface="Google Sans Text"/>
                        </a:rPr>
                        <a:t>6</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DA0101EN</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Data Analysis with Python</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48522992"/>
                  </a:ext>
                </a:extLst>
              </a:tr>
              <a:tr h="208521">
                <a:tc>
                  <a:txBody>
                    <a:bodyPr/>
                    <a:lstStyle/>
                    <a:p>
                      <a:pPr rtl="0">
                        <a:buNone/>
                      </a:pPr>
                      <a:r>
                        <a:rPr lang="en-IN" sz="1000">
                          <a:solidFill>
                            <a:srgbClr val="1F1F1F"/>
                          </a:solidFill>
                          <a:effectLst/>
                          <a:latin typeface="Google Sans Text"/>
                        </a:rPr>
                        <a:t>7</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BD0101EN</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Big Data 101</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92912049"/>
                  </a:ext>
                </a:extLst>
              </a:tr>
              <a:tr h="208521">
                <a:tc>
                  <a:txBody>
                    <a:bodyPr/>
                    <a:lstStyle/>
                    <a:p>
                      <a:pPr rtl="0">
                        <a:buNone/>
                      </a:pPr>
                      <a:r>
                        <a:rPr lang="en-IN" sz="1000">
                          <a:solidFill>
                            <a:srgbClr val="1F1F1F"/>
                          </a:solidFill>
                          <a:effectLst/>
                          <a:latin typeface="Google Sans Text"/>
                        </a:rPr>
                        <a:t>8</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BD0111EN</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Hadoop 101</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31657868"/>
                  </a:ext>
                </a:extLst>
              </a:tr>
              <a:tr h="208521">
                <a:tc>
                  <a:txBody>
                    <a:bodyPr/>
                    <a:lstStyle/>
                    <a:p>
                      <a:pPr rtl="0">
                        <a:buNone/>
                      </a:pPr>
                      <a:r>
                        <a:rPr lang="en-IN" sz="1000">
                          <a:solidFill>
                            <a:srgbClr val="1F1F1F"/>
                          </a:solidFill>
                          <a:effectLst/>
                          <a:latin typeface="Google Sans Text"/>
                        </a:rPr>
                        <a:t>9</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ML0115EN</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a:solidFill>
                            <a:srgbClr val="1F1F1F"/>
                          </a:solidFill>
                          <a:effectLst/>
                          <a:latin typeface="Google Sans Text"/>
                        </a:rPr>
                        <a:t>Deep Learning 101</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78919480"/>
                  </a:ext>
                </a:extLst>
              </a:tr>
              <a:tr h="208521">
                <a:tc>
                  <a:txBody>
                    <a:bodyPr/>
                    <a:lstStyle/>
                    <a:p>
                      <a:pPr rtl="0">
                        <a:buNone/>
                      </a:pPr>
                      <a:r>
                        <a:rPr lang="en-IN" sz="1000">
                          <a:solidFill>
                            <a:srgbClr val="1F1F1F"/>
                          </a:solidFill>
                          <a:effectLst/>
                          <a:latin typeface="Google Sans Text"/>
                        </a:rPr>
                        <a:t>10</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b="1">
                          <a:solidFill>
                            <a:srgbClr val="1F1F1F"/>
                          </a:solidFill>
                          <a:effectLst/>
                          <a:latin typeface="Google Sans Text"/>
                        </a:rPr>
                        <a:t>SC0101EN</a:t>
                      </a:r>
                      <a:endParaRPr lang="en-IN" sz="1000">
                        <a:solidFill>
                          <a:srgbClr val="1F1F1F"/>
                        </a:solidFill>
                        <a:effectLst/>
                        <a:latin typeface="Google Sans Text"/>
                      </a:endParaRP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000" dirty="0">
                          <a:solidFill>
                            <a:srgbClr val="1F1F1F"/>
                          </a:solidFill>
                          <a:effectLst/>
                          <a:latin typeface="Google Sans Text"/>
                        </a:rPr>
                        <a:t>Spark Fundamentals I</a:t>
                      </a:r>
                    </a:p>
                  </a:txBody>
                  <a:tcPr marL="85882" marR="85882" marT="57254" marB="57254"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9265149"/>
                  </a:ext>
                </a:extLst>
              </a:tr>
            </a:tbl>
          </a:graphicData>
        </a:graphic>
      </p:graphicFrame>
    </p:spTree>
    <p:extLst>
      <p:ext uri="{BB962C8B-B14F-4D97-AF65-F5344CB8AC3E}">
        <p14:creationId xmlns:p14="http://schemas.microsoft.com/office/powerpoint/2010/main" val="211599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Collaborative-filtering Recommender System using Supervised Learning</a:t>
            </a:r>
            <a:endParaRPr lang="en-US" dirty="0"/>
          </a:p>
        </p:txBody>
      </p:sp>
      <p:pic>
        <p:nvPicPr>
          <p:cNvPr id="43" name="Picture 2" descr="Support-vector machine - Wikipedia">
            <a:extLst>
              <a:ext uri="{FF2B5EF4-FFF2-40B4-BE49-F238E27FC236}">
                <a16:creationId xmlns:a16="http://schemas.microsoft.com/office/drawing/2014/main" id="{CA660427-DE61-394E-804E-5C0107163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2071" y="5432400"/>
            <a:ext cx="1470757" cy="142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572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a:xfrm>
            <a:off x="838200" y="365126"/>
            <a:ext cx="10515600" cy="451304"/>
          </a:xfrm>
        </p:spPr>
        <p:txBody>
          <a:bodyPr/>
          <a:lstStyle/>
          <a:p>
            <a:r>
              <a:rPr lang="en-US" sz="2000" u="sng" dirty="0">
                <a:solidFill>
                  <a:srgbClr val="0B49CB"/>
                </a:solidFill>
                <a:latin typeface="Abadi"/>
              </a:rPr>
              <a:t>Flowchart of KNN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947972" y="1085286"/>
            <a:ext cx="10515600" cy="4379910"/>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solidFill>
                  <a:srgbClr val="1C7DDB"/>
                </a:solidFill>
                <a:latin typeface="Abadi"/>
              </a:rPr>
              <a:t>Steps Break down </a:t>
            </a:r>
          </a:p>
          <a:p>
            <a:pPr>
              <a:buFontTx/>
              <a:buChar char="-"/>
            </a:pPr>
            <a:r>
              <a:rPr lang="en-GB" sz="1400" b="1" dirty="0"/>
              <a:t>Raw Data</a:t>
            </a:r>
            <a:r>
              <a:rPr lang="en-GB" sz="1400" dirty="0"/>
              <a:t>: The process begins with the ratings.csv file, which contains "dense" triplets: user ID, item ID (course), and rating (</a:t>
            </a:r>
            <a:r>
              <a:rPr lang="en-GB" sz="1400" dirty="0" err="1"/>
              <a:t>enrollment</a:t>
            </a:r>
            <a:r>
              <a:rPr lang="en-GB" sz="1400" dirty="0"/>
              <a:t> mode)</a:t>
            </a:r>
          </a:p>
          <a:p>
            <a:pPr>
              <a:buFontTx/>
              <a:buChar char="-"/>
            </a:pPr>
            <a:r>
              <a:rPr lang="en-GB" sz="1400" b="1" dirty="0"/>
              <a:t>Data Processing</a:t>
            </a:r>
            <a:r>
              <a:rPr lang="en-GB" sz="1400" dirty="0"/>
              <a:t>: The dense data is pivoted into a </a:t>
            </a:r>
            <a:r>
              <a:rPr lang="en-GB" sz="1400" b="1" dirty="0"/>
              <a:t>User-Item Interaction Matrix</a:t>
            </a:r>
            <a:r>
              <a:rPr lang="en-GB" sz="1400" dirty="0"/>
              <a:t>. In this 2-D sparse matrix, rows represent users, columns represent courses, and cells contain the rating values, with missing interactions filled as zeros</a:t>
            </a:r>
          </a:p>
          <a:p>
            <a:pPr>
              <a:buFontTx/>
              <a:buChar char="-"/>
            </a:pPr>
            <a:r>
              <a:rPr lang="en-GB" sz="1400" b="1" dirty="0"/>
              <a:t>Cleaned Datasets</a:t>
            </a:r>
            <a:r>
              <a:rPr lang="en-GB" sz="1400" dirty="0"/>
              <a:t>: The matrix is prepared for the model by being split into a </a:t>
            </a:r>
            <a:r>
              <a:rPr lang="en-GB" sz="1400" b="1" dirty="0"/>
              <a:t>Training Set</a:t>
            </a:r>
            <a:r>
              <a:rPr lang="en-GB" sz="1400" dirty="0"/>
              <a:t> (to build the similarity </a:t>
            </a:r>
            <a:r>
              <a:rPr lang="en-GB" sz="1400" dirty="0" err="1"/>
              <a:t>neighborhood</a:t>
            </a:r>
            <a:r>
              <a:rPr lang="en-GB" sz="1400" dirty="0"/>
              <a:t>) and a </a:t>
            </a:r>
            <a:r>
              <a:rPr lang="en-GB" sz="1400" b="1" dirty="0"/>
              <a:t>Test Set</a:t>
            </a:r>
            <a:r>
              <a:rPr lang="en-GB" sz="1400" dirty="0"/>
              <a:t> (to evaluate accuracy).</a:t>
            </a:r>
          </a:p>
          <a:p>
            <a:r>
              <a:rPr lang="en-GB" sz="1400" b="1" dirty="0"/>
              <a:t>Feature Engineering &amp; Model Training</a:t>
            </a:r>
            <a:r>
              <a:rPr lang="en-GB" sz="1400" dirty="0"/>
              <a:t>:</a:t>
            </a:r>
          </a:p>
          <a:p>
            <a:pPr lvl="1"/>
            <a:r>
              <a:rPr lang="en-GB" sz="1400" b="1" dirty="0"/>
              <a:t>Similarity Calculation</a:t>
            </a:r>
            <a:r>
              <a:rPr lang="en-GB" sz="1400" dirty="0"/>
              <a:t>: The system calculates the distance (e.g., Cosine or Mean Squared Difference) between row vectors (User-based) or column vectors (Item-based).</a:t>
            </a:r>
          </a:p>
          <a:p>
            <a:pPr lvl="1"/>
            <a:r>
              <a:rPr lang="en-GB" sz="1400" b="1" dirty="0"/>
              <a:t>KNN Algorithm</a:t>
            </a:r>
            <a:r>
              <a:rPr lang="en-GB" sz="1400" dirty="0"/>
              <a:t>: For a target user, the algorithm identifies the </a:t>
            </a:r>
            <a:r>
              <a:rPr lang="en-GB" sz="1400" b="1" dirty="0"/>
              <a:t>K-nearest </a:t>
            </a:r>
            <a:r>
              <a:rPr lang="en-GB" sz="1400" b="1" dirty="0" err="1"/>
              <a:t>neighbors</a:t>
            </a:r>
            <a:r>
              <a:rPr lang="en-GB" sz="1400" dirty="0"/>
              <a:t>—other users with the most similar </a:t>
            </a:r>
            <a:r>
              <a:rPr lang="en-GB" sz="1400" dirty="0" err="1"/>
              <a:t>enrollment</a:t>
            </a:r>
            <a:r>
              <a:rPr lang="en-GB" sz="1400" dirty="0"/>
              <a:t> histories.</a:t>
            </a:r>
          </a:p>
          <a:p>
            <a:r>
              <a:rPr lang="en-GB" sz="1400" b="1" dirty="0"/>
              <a:t>Features (Predictions): </a:t>
            </a:r>
            <a:r>
              <a:rPr lang="en-GB" sz="1400" dirty="0"/>
              <a:t>The final output is the Predicted Rating ($\hat{r}_{</a:t>
            </a:r>
            <a:r>
              <a:rPr lang="en-GB" sz="1400" dirty="0" err="1"/>
              <a:t>ui</a:t>
            </a:r>
            <a:r>
              <a:rPr lang="en-GB" sz="1400" dirty="0"/>
              <a:t>}$), calculated as a weighted average of the </a:t>
            </a:r>
            <a:r>
              <a:rPr lang="en-GB" sz="1400" dirty="0" err="1"/>
              <a:t>neighbors'</a:t>
            </a:r>
            <a:r>
              <a:rPr lang="en-GB" sz="1400" dirty="0"/>
              <a:t> ratings. This allows the system to recommend courses that similar users have completed but the target user has not yet seen</a:t>
            </a:r>
          </a:p>
          <a:p>
            <a:endParaRPr lang="en-GB" sz="2000" dirty="0"/>
          </a:p>
          <a:p>
            <a:pPr>
              <a:buFontTx/>
              <a:buChar char="-"/>
            </a:pPr>
            <a:endParaRPr lang="en-US" sz="2000" dirty="0">
              <a:solidFill>
                <a:srgbClr val="1C7DDB"/>
              </a:solidFill>
              <a:latin typeface="Abad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641752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6143202"/>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Cleaned datasets</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6143202"/>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Raw data</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6080638"/>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 processing</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641752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5649686"/>
            <a:ext cx="1840766" cy="110472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 engineering ( Similarity Calc &amp; KNN)</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6415910"/>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6143202"/>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Features Prediction</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6415910"/>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261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2000" u="sng" dirty="0">
                <a:solidFill>
                  <a:srgbClr val="0B49CB"/>
                </a:solidFill>
                <a:latin typeface="Abadi"/>
              </a:rPr>
              <a:t>Flowchart of NMF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38200" y="801292"/>
            <a:ext cx="10515600" cy="4951733"/>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1886320" y="6428408"/>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4565468" y="6154088"/>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Matrix Factorization</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240400" y="6154088"/>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Load and Explore  data</a:t>
            </a:r>
          </a:p>
        </p:txBody>
      </p:sp>
      <p:sp>
        <p:nvSpPr>
          <p:cNvPr id="10" name="Rectangle 9">
            <a:extLst>
              <a:ext uri="{FF2B5EF4-FFF2-40B4-BE49-F238E27FC236}">
                <a16:creationId xmlns:a16="http://schemas.microsoft.com/office/drawing/2014/main" id="{BC66C45B-081E-7045-A932-30AF89330AF5}"/>
              </a:ext>
            </a:extLst>
          </p:cNvPr>
          <p:cNvSpPr/>
          <p:nvPr/>
        </p:nvSpPr>
        <p:spPr>
          <a:xfrm>
            <a:off x="2305511" y="6091524"/>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Matrix Pivot/ Transformation</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146277" y="6428408"/>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6577738" y="6091524"/>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Optimization </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211388" y="6426796"/>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10727446" y="6140229"/>
            <a:ext cx="1330233"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Model Evaluation </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8264516" y="6426796"/>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02C3B0D-4785-04A5-D4FE-1C67DEEEA197}"/>
              </a:ext>
            </a:extLst>
          </p:cNvPr>
          <p:cNvSpPr txBox="1"/>
          <p:nvPr/>
        </p:nvSpPr>
        <p:spPr>
          <a:xfrm>
            <a:off x="838200" y="904518"/>
            <a:ext cx="8490857" cy="4524315"/>
          </a:xfrm>
          <a:prstGeom prst="rect">
            <a:avLst/>
          </a:prstGeom>
          <a:noFill/>
        </p:spPr>
        <p:txBody>
          <a:bodyPr wrap="square">
            <a:spAutoFit/>
          </a:bodyPr>
          <a:lstStyle/>
          <a:p>
            <a:pPr>
              <a:buNone/>
            </a:pPr>
            <a:r>
              <a:rPr lang="en-GB" b="1" dirty="0"/>
              <a:t>Flowchart Steps</a:t>
            </a:r>
          </a:p>
          <a:p>
            <a:pPr>
              <a:buFont typeface="+mj-lt"/>
              <a:buAutoNum type="arabicPeriod"/>
            </a:pPr>
            <a:r>
              <a:rPr lang="en-GB" b="1" dirty="0"/>
              <a:t>Load and Explore Data</a:t>
            </a:r>
            <a:r>
              <a:rPr lang="en-GB" dirty="0"/>
              <a:t>: Import the user-item interaction dataset (e.g., </a:t>
            </a:r>
            <a:r>
              <a:rPr lang="en-GB" dirty="0">
                <a:latin typeface="Courier New" panose="02070309020205020404" pitchFamily="49" charset="0"/>
              </a:rPr>
              <a:t>ratings.csv</a:t>
            </a:r>
            <a:r>
              <a:rPr lang="en-GB" dirty="0"/>
              <a:t>) containing user IDs, item IDs, and ratings</a:t>
            </a:r>
          </a:p>
          <a:p>
            <a:pPr>
              <a:buFont typeface="+mj-lt"/>
              <a:buAutoNum type="arabicPeriod"/>
            </a:pPr>
            <a:r>
              <a:rPr lang="en-GB" b="1" dirty="0"/>
              <a:t>Matrix Pivot/Transformation</a:t>
            </a:r>
            <a:r>
              <a:rPr lang="en-GB" dirty="0"/>
              <a:t>: Convert the vertical "dense" </a:t>
            </a:r>
            <a:r>
              <a:rPr lang="en-GB" dirty="0" err="1"/>
              <a:t>dataframe</a:t>
            </a:r>
            <a:r>
              <a:rPr lang="en-GB" dirty="0"/>
              <a:t> into a sparse interaction matrix where rows represent users and columns represent items</a:t>
            </a:r>
          </a:p>
          <a:p>
            <a:pPr>
              <a:buFont typeface="+mj-lt"/>
              <a:buAutoNum type="arabicPeriod"/>
            </a:pPr>
            <a:r>
              <a:rPr lang="en-GB" dirty="0"/>
              <a:t> </a:t>
            </a:r>
            <a:r>
              <a:rPr lang="en-IN" dirty="0"/>
              <a:t>Matrix Factorization (NMF) :</a:t>
            </a:r>
          </a:p>
          <a:p>
            <a:r>
              <a:rPr lang="en-IN" dirty="0"/>
              <a:t>	a) </a:t>
            </a:r>
            <a:r>
              <a:rPr lang="en-GB" dirty="0"/>
              <a:t>Decompose the sparse matrix into two low-rank dense matrices: User</a:t>
            </a:r>
          </a:p>
          <a:p>
            <a:r>
              <a:rPr lang="en-GB" dirty="0"/>
              <a:t>                             Matrix and Item Matrix</a:t>
            </a:r>
          </a:p>
          <a:p>
            <a:r>
              <a:rPr lang="en-GB" dirty="0"/>
              <a:t>                 b) Define the number of latent features as a hyperparameter.</a:t>
            </a:r>
          </a:p>
          <a:p>
            <a:r>
              <a:rPr lang="en-GB" dirty="0"/>
              <a:t>4. Optimization: Initialize $U$ and $I$ and minimize the cost function (sum of squared differences between actual and predicted ratings) using algorithms like Stochastic Gradient Descent (SGD)</a:t>
            </a:r>
          </a:p>
          <a:p>
            <a:r>
              <a:rPr lang="en-GB" dirty="0"/>
              <a:t>5. Rating Estimation: Calculate the estimated rating for a specific user-item pair by performing the dot product of the corresponding row and column</a:t>
            </a:r>
          </a:p>
          <a:p>
            <a:r>
              <a:rPr lang="en-GB" dirty="0"/>
              <a:t>6. Model Evaluation: Measure the performance using metrics like Root Mean Squared Error (RMSE) to compare predicted ratings against the actual test set values</a:t>
            </a:r>
          </a:p>
        </p:txBody>
      </p:sp>
      <p:sp>
        <p:nvSpPr>
          <p:cNvPr id="23" name="Rectangle 22">
            <a:extLst>
              <a:ext uri="{FF2B5EF4-FFF2-40B4-BE49-F238E27FC236}">
                <a16:creationId xmlns:a16="http://schemas.microsoft.com/office/drawing/2014/main" id="{65382467-0DAD-8DD8-C69F-2E76B6ADB070}"/>
              </a:ext>
            </a:extLst>
          </p:cNvPr>
          <p:cNvSpPr/>
          <p:nvPr/>
        </p:nvSpPr>
        <p:spPr>
          <a:xfrm>
            <a:off x="8713851" y="6100797"/>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Rating </a:t>
            </a:r>
            <a:r>
              <a:rPr lang="en-US" dirty="0" err="1">
                <a:solidFill>
                  <a:schemeClr val="tx1"/>
                </a:solidFill>
              </a:rPr>
              <a:t>Esitmation</a:t>
            </a:r>
            <a:r>
              <a:rPr lang="en-US" dirty="0">
                <a:solidFill>
                  <a:schemeClr val="tx1"/>
                </a:solidFill>
              </a:rPr>
              <a:t> </a:t>
            </a:r>
          </a:p>
        </p:txBody>
      </p:sp>
      <p:cxnSp>
        <p:nvCxnSpPr>
          <p:cNvPr id="24" name="Straight Arrow Connector 23">
            <a:extLst>
              <a:ext uri="{FF2B5EF4-FFF2-40B4-BE49-F238E27FC236}">
                <a16:creationId xmlns:a16="http://schemas.microsoft.com/office/drawing/2014/main" id="{9C37A2E5-04A4-A6F3-2588-88FD7580FCD9}"/>
              </a:ext>
            </a:extLst>
          </p:cNvPr>
          <p:cNvCxnSpPr>
            <a:cxnSpLocks/>
          </p:cNvCxnSpPr>
          <p:nvPr/>
        </p:nvCxnSpPr>
        <p:spPr>
          <a:xfrm>
            <a:off x="10517851" y="64376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5939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2000" u="sng" dirty="0">
                <a:solidFill>
                  <a:srgbClr val="0B49CB"/>
                </a:solidFill>
                <a:latin typeface="Abadi"/>
              </a:rPr>
              <a:t>Flowchart of Neural Network Embedding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756436"/>
            <a:ext cx="10515600" cy="5056408"/>
          </a:xfrm>
          <a:prstGeom prst="rect">
            <a:avLst/>
          </a:prstGeom>
          <a:ln>
            <a:solidFill>
              <a:srgbClr val="0B49CB"/>
            </a:solidFill>
            <a:prstDash val="dash"/>
          </a:ln>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None/>
            </a:pPr>
            <a:r>
              <a:rPr lang="en-GB" sz="2000" dirty="0">
                <a:solidFill>
                  <a:srgbClr val="1C7DDB"/>
                </a:solidFill>
                <a:latin typeface="Abadi"/>
              </a:rPr>
              <a:t>Data Preparation: The process begins by loading the ratings.csv dataset. Since neural networks require numerical inputs, the User IDs and Item IDs are mapped to unique integer indices. The ratings are then scaled (typically between 0 and 1) to stabilize the neural network training.</a:t>
            </a:r>
          </a:p>
          <a:p>
            <a:pPr marL="0" indent="0">
              <a:buNone/>
            </a:pPr>
            <a:endParaRPr lang="en-GB" sz="2000" dirty="0">
              <a:solidFill>
                <a:srgbClr val="1C7DDB"/>
              </a:solidFill>
              <a:latin typeface="Abadi"/>
            </a:endParaRPr>
          </a:p>
          <a:p>
            <a:pPr marL="0" indent="0">
              <a:buNone/>
            </a:pPr>
            <a:r>
              <a:rPr lang="en-GB" sz="2000" dirty="0">
                <a:solidFill>
                  <a:srgbClr val="1C7DDB"/>
                </a:solidFill>
                <a:latin typeface="Abadi"/>
              </a:rPr>
              <a:t>Architecture Design: The core of the system is the </a:t>
            </a:r>
            <a:r>
              <a:rPr lang="en-GB" sz="2000" dirty="0" err="1">
                <a:solidFill>
                  <a:srgbClr val="1C7DDB"/>
                </a:solidFill>
                <a:latin typeface="Abadi"/>
              </a:rPr>
              <a:t>RecommenderNet</a:t>
            </a:r>
            <a:r>
              <a:rPr lang="en-GB" sz="2000" dirty="0">
                <a:solidFill>
                  <a:srgbClr val="1C7DDB"/>
                </a:solidFill>
                <a:latin typeface="Abadi"/>
              </a:rPr>
              <a:t> class. Unlike traditional models that use high-dimensional one-hot encoding, this system uses Embedding Layers. These layers transform sparse integer IDs into dense, low-dimensional latent feature vectors (e.g., size 16).</a:t>
            </a:r>
          </a:p>
          <a:p>
            <a:pPr marL="0" indent="0">
              <a:buNone/>
            </a:pPr>
            <a:endParaRPr lang="en-GB" sz="2000" dirty="0">
              <a:solidFill>
                <a:srgbClr val="1C7DDB"/>
              </a:solidFill>
              <a:latin typeface="Abadi"/>
            </a:endParaRPr>
          </a:p>
          <a:p>
            <a:pPr marL="0" indent="0">
              <a:buNone/>
            </a:pPr>
            <a:r>
              <a:rPr lang="en-GB" sz="2000" dirty="0">
                <a:solidFill>
                  <a:srgbClr val="1C7DDB"/>
                </a:solidFill>
                <a:latin typeface="Abadi"/>
              </a:rPr>
              <a:t>Interaction </a:t>
            </a:r>
            <a:r>
              <a:rPr lang="en-GB" sz="2000" dirty="0" err="1">
                <a:solidFill>
                  <a:srgbClr val="1C7DDB"/>
                </a:solidFill>
                <a:latin typeface="Abadi"/>
              </a:rPr>
              <a:t>Modeling</a:t>
            </a:r>
            <a:r>
              <a:rPr lang="en-GB" sz="2000" dirty="0">
                <a:solidFill>
                  <a:srgbClr val="1C7DDB"/>
                </a:solidFill>
                <a:latin typeface="Abadi"/>
              </a:rPr>
              <a:t>: The model calculates the interaction between a user and an item by taking the dot product of their respective embedding vectors. User and item biases are added to account for general tendencies (e.g., a user who always rates high or a course that is universally liked). A </a:t>
            </a:r>
            <a:r>
              <a:rPr lang="en-GB" sz="2000" dirty="0" err="1">
                <a:solidFill>
                  <a:srgbClr val="1C7DDB"/>
                </a:solidFill>
                <a:latin typeface="Abadi"/>
              </a:rPr>
              <a:t>ReLU</a:t>
            </a:r>
            <a:r>
              <a:rPr lang="en-GB" sz="2000" dirty="0">
                <a:solidFill>
                  <a:srgbClr val="1C7DDB"/>
                </a:solidFill>
                <a:latin typeface="Abadi"/>
              </a:rPr>
              <a:t> activation function is applied at the output to ensure the predicted rating is non-negative.</a:t>
            </a:r>
          </a:p>
          <a:p>
            <a:pPr marL="0" indent="0">
              <a:buNone/>
            </a:pPr>
            <a:endParaRPr lang="en-GB" sz="2000" dirty="0">
              <a:solidFill>
                <a:srgbClr val="1C7DDB"/>
              </a:solidFill>
              <a:latin typeface="Abadi"/>
            </a:endParaRPr>
          </a:p>
          <a:p>
            <a:pPr marL="0" indent="0">
              <a:buNone/>
            </a:pPr>
            <a:r>
              <a:rPr lang="en-GB" sz="2000" dirty="0">
                <a:solidFill>
                  <a:srgbClr val="1C7DDB"/>
                </a:solidFill>
                <a:latin typeface="Abadi"/>
              </a:rPr>
              <a:t>Training &amp; Optimization: The model is compiled using the Adam optimizer and Mean Squared Error (MSE) as the loss function. During the 10-epoch training phase, the weights in the embedding layers are adjusted to minimize the difference between predicted and actual ratings.</a:t>
            </a:r>
          </a:p>
          <a:p>
            <a:pPr marL="0" indent="0">
              <a:buNone/>
            </a:pPr>
            <a:endParaRPr lang="en-GB" sz="2000" dirty="0">
              <a:solidFill>
                <a:srgbClr val="1C7DDB"/>
              </a:solidFill>
              <a:latin typeface="Abadi"/>
            </a:endParaRPr>
          </a:p>
          <a:p>
            <a:pPr marL="0" indent="0">
              <a:buNone/>
            </a:pPr>
            <a:r>
              <a:rPr lang="en-GB" sz="2000" dirty="0">
                <a:solidFill>
                  <a:srgbClr val="1C7DDB"/>
                </a:solidFill>
                <a:latin typeface="Abadi"/>
              </a:rPr>
              <a:t>Latent Feature Extraction: Once trained, the weights are extracted from the </a:t>
            </a:r>
            <a:r>
              <a:rPr lang="en-GB" sz="2000" dirty="0" err="1">
                <a:solidFill>
                  <a:srgbClr val="1C7DDB"/>
                </a:solidFill>
                <a:latin typeface="Abadi"/>
              </a:rPr>
              <a:t>user_embedding_layer</a:t>
            </a:r>
            <a:r>
              <a:rPr lang="en-GB" sz="2000" dirty="0">
                <a:solidFill>
                  <a:srgbClr val="1C7DDB"/>
                </a:solidFill>
                <a:latin typeface="Abadi"/>
              </a:rPr>
              <a:t> and </a:t>
            </a:r>
            <a:r>
              <a:rPr lang="en-GB" sz="2000" dirty="0" err="1">
                <a:solidFill>
                  <a:srgbClr val="1C7DDB"/>
                </a:solidFill>
                <a:latin typeface="Abadi"/>
              </a:rPr>
              <a:t>item_embedding_layer</a:t>
            </a:r>
            <a:r>
              <a:rPr lang="en-GB" sz="2000" dirty="0">
                <a:solidFill>
                  <a:srgbClr val="1C7DDB"/>
                </a:solidFill>
                <a:latin typeface="Abadi"/>
              </a:rPr>
              <a:t>. These weights represent the "learned" characteristics of users and courses, effectively compressing 33,901 users and 126 items into meaningful 16-dimensional vectors used for making recommendations.</a:t>
            </a:r>
          </a:p>
          <a:p>
            <a:pPr marL="0" indent="0">
              <a:buNone/>
            </a:pPr>
            <a:endParaRPr lang="en-GB" sz="2000" dirty="0">
              <a:solidFill>
                <a:srgbClr val="1C7DDB"/>
              </a:solidFill>
              <a:latin typeface="Abad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6363095"/>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6088775"/>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Interaction Modeling	</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6088775"/>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 Preparation </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6026211"/>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Architecture Design	</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6363095"/>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6026211"/>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Training &amp; Optimization</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6361483"/>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6088775"/>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Latent Feature Extraction </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6361483"/>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004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a:xfrm>
            <a:off x="838200" y="113109"/>
            <a:ext cx="10515600" cy="1325563"/>
          </a:xfrm>
        </p:spPr>
        <p:txBody>
          <a:bodyPr/>
          <a:lstStyle/>
          <a:p>
            <a:r>
              <a:rPr lang="en-US" sz="2000" dirty="0">
                <a:solidFill>
                  <a:srgbClr val="0B49CB"/>
                </a:solidFill>
                <a:latin typeface="Abadi"/>
              </a:rPr>
              <a:t>Compare the performance of collaborative-filtering models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38200" y="463462"/>
            <a:ext cx="10515600" cy="4700586"/>
          </a:xfrm>
          <a:prstGeom prst="rect">
            <a:avLst/>
          </a:prstGeom>
          <a:ln>
            <a:solidFill>
              <a:srgbClr val="0B49CB"/>
            </a:solidFill>
            <a:prstDash val="dash"/>
          </a:ln>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000" b="1" dirty="0"/>
              <a:t>Overview of Model Accuracy</a:t>
            </a:r>
          </a:p>
          <a:p>
            <a:r>
              <a:rPr lang="en-GB" sz="2000" dirty="0"/>
              <a:t>The effectiveness of the collaborative filtering models was measured using the </a:t>
            </a:r>
            <a:r>
              <a:rPr lang="en-GB" sz="2000" b="1" dirty="0"/>
              <a:t>Root Mean Squared Error (RMSE)</a:t>
            </a:r>
            <a:r>
              <a:rPr lang="en-GB" sz="2000" dirty="0"/>
              <a:t> metric, which quantifies the difference between predicted and actual learner </a:t>
            </a:r>
            <a:r>
              <a:rPr lang="en-GB" sz="2000" dirty="0" err="1"/>
              <a:t>enrollments</a:t>
            </a:r>
            <a:r>
              <a:rPr lang="en-GB" sz="2000" dirty="0"/>
              <a:t>. Lower RMSE values indicate a higher precision in predicting user </a:t>
            </a:r>
            <a:r>
              <a:rPr lang="en-GB" sz="2000" dirty="0" err="1"/>
              <a:t>behavior</a:t>
            </a:r>
            <a:r>
              <a:rPr lang="en-GB" sz="2000" dirty="0"/>
              <a:t>.</a:t>
            </a:r>
          </a:p>
          <a:p>
            <a:pPr marL="0" indent="0">
              <a:buNone/>
            </a:pPr>
            <a:r>
              <a:rPr lang="en-GB" sz="2000" b="1" dirty="0"/>
              <a:t>Model Performance Breakdown</a:t>
            </a:r>
          </a:p>
          <a:p>
            <a:r>
              <a:rPr lang="en-GB" sz="2000" b="1" dirty="0"/>
              <a:t>Top Performers (KNN &amp; NMF):</a:t>
            </a:r>
            <a:r>
              <a:rPr lang="en-GB" sz="2000" dirty="0"/>
              <a:t> Both the </a:t>
            </a:r>
            <a:r>
              <a:rPr lang="en-GB" sz="2000" b="1" dirty="0"/>
              <a:t>K-Nearest </a:t>
            </a:r>
            <a:r>
              <a:rPr lang="en-GB" sz="2000" b="1" dirty="0" err="1"/>
              <a:t>Neighbors</a:t>
            </a:r>
            <a:r>
              <a:rPr lang="en-GB" sz="2000" b="1" dirty="0"/>
              <a:t> (KNN)</a:t>
            </a:r>
            <a:r>
              <a:rPr lang="en-GB" sz="2000" dirty="0"/>
              <a:t> and </a:t>
            </a:r>
            <a:r>
              <a:rPr lang="en-GB" sz="2000" b="1" dirty="0"/>
              <a:t>Non-negative Matrix Factorization (NMF)</a:t>
            </a:r>
            <a:r>
              <a:rPr lang="en-GB" sz="2000" dirty="0"/>
              <a:t> models achieved the best performance with an identical RMSE of </a:t>
            </a:r>
            <a:r>
              <a:rPr lang="en-GB" sz="2000" b="1" dirty="0"/>
              <a:t>0.048</a:t>
            </a:r>
            <a:r>
              <a:rPr lang="en-GB" sz="2000" dirty="0"/>
              <a:t>. This suggests that identifying "</a:t>
            </a:r>
            <a:r>
              <a:rPr lang="en-GB" sz="2000" dirty="0" err="1"/>
              <a:t>neighborhoods</a:t>
            </a:r>
            <a:r>
              <a:rPr lang="en-GB" sz="2000" dirty="0"/>
              <a:t>" of similar users or decomposing the interaction matrix into latent features provides high predictive accuracy for this dataset.</a:t>
            </a:r>
          </a:p>
          <a:p>
            <a:r>
              <a:rPr lang="en-GB" sz="2000" b="1" dirty="0"/>
              <a:t>Neural Network Approaches (ANN &amp; Regression):</a:t>
            </a:r>
            <a:r>
              <a:rPr lang="en-GB" sz="2000" dirty="0"/>
              <a:t> Models utilizing </a:t>
            </a:r>
            <a:r>
              <a:rPr lang="en-GB" sz="2000" b="1" dirty="0"/>
              <a:t>Neural Network Embeddings</a:t>
            </a:r>
            <a:r>
              <a:rPr lang="en-GB" sz="2000" dirty="0"/>
              <a:t> (ANN and Regression) showed slightly higher error rates, both resulting in an RMSE of </a:t>
            </a:r>
            <a:r>
              <a:rPr lang="en-GB" sz="2000" b="1" dirty="0"/>
              <a:t>0.062</a:t>
            </a:r>
            <a:r>
              <a:rPr lang="en-GB" sz="2000" dirty="0"/>
              <a:t>. While these models are more complex and map users to dense 16-dimensional latent vectors, they were slightly less precise than the traditional matrix-based methods for this specific application</a:t>
            </a:r>
          </a:p>
          <a:p>
            <a:pPr marL="0" indent="0">
              <a:buNone/>
            </a:pPr>
            <a:r>
              <a:rPr lang="en-GB" sz="2000" b="1" dirty="0"/>
              <a:t>Key Selection Criteria</a:t>
            </a:r>
          </a:p>
          <a:p>
            <a:r>
              <a:rPr lang="en-GB" sz="2000" b="1" dirty="0"/>
              <a:t>Reproducibility:</a:t>
            </a:r>
            <a:r>
              <a:rPr lang="en-GB" sz="2000" dirty="0"/>
              <a:t> To ensure consistent evaluation across all models (KNN, NMF, and PCA), a fixed </a:t>
            </a:r>
            <a:r>
              <a:rPr lang="en-GB" sz="2000" b="1" dirty="0"/>
              <a:t>Random State of 123</a:t>
            </a:r>
            <a:r>
              <a:rPr lang="en-GB" sz="2000" dirty="0"/>
              <a:t> was maintained throughout the experimentation</a:t>
            </a:r>
          </a:p>
          <a:p>
            <a:r>
              <a:rPr lang="en-GB" sz="2000" b="1" dirty="0"/>
              <a:t>Computational Efficiency:</a:t>
            </a:r>
            <a:r>
              <a:rPr lang="en-GB" sz="2000" dirty="0"/>
              <a:t> While Neural Networks provide deep feature extraction, the </a:t>
            </a:r>
            <a:r>
              <a:rPr lang="en-GB" sz="2000" b="1" dirty="0" err="1"/>
              <a:t>KNN_User</a:t>
            </a:r>
            <a:r>
              <a:rPr lang="en-GB" sz="2000" dirty="0"/>
              <a:t> model was identified as a primary recommendation driver due to its balance of the lowest error rate and straightforward implementation</a:t>
            </a:r>
          </a:p>
          <a:p>
            <a:r>
              <a:rPr lang="en-GB" sz="2000" b="1" dirty="0"/>
              <a:t>Model Versatility:</a:t>
            </a:r>
            <a:r>
              <a:rPr lang="en-GB" sz="2000" dirty="0"/>
              <a:t> By implementing multiple strategies, the system can pivot between </a:t>
            </a:r>
            <a:r>
              <a:rPr lang="en-GB" sz="2000" b="1" dirty="0"/>
              <a:t>latent feature extraction</a:t>
            </a:r>
            <a:r>
              <a:rPr lang="en-GB" sz="2000" dirty="0"/>
              <a:t> (NMF/Neural Networks) and </a:t>
            </a:r>
            <a:r>
              <a:rPr lang="en-GB" sz="2000" b="1" dirty="0"/>
              <a:t>proximity-based clustering</a:t>
            </a:r>
            <a:r>
              <a:rPr lang="en-GB" sz="2000" dirty="0"/>
              <a:t> (KNN) depending on the density of the user-item interaction matrix.</a:t>
            </a:r>
          </a:p>
          <a:p>
            <a:endParaRPr lang="en-GB" sz="2000" dirty="0"/>
          </a:p>
          <a:p>
            <a:endParaRPr lang="en-GB" sz="2000" dirty="0"/>
          </a:p>
          <a:p>
            <a:pPr marL="0" indent="0">
              <a:buNone/>
            </a:pPr>
            <a:endParaRPr lang="en-US" sz="2200" dirty="0">
              <a:solidFill>
                <a:srgbClr val="1C7DDB"/>
              </a:solidFill>
              <a:latin typeface="Abadi"/>
            </a:endParaRPr>
          </a:p>
        </p:txBody>
      </p:sp>
      <p:sp>
        <p:nvSpPr>
          <p:cNvPr id="2" name="AutoShape 2">
            <a:extLst>
              <a:ext uri="{FF2B5EF4-FFF2-40B4-BE49-F238E27FC236}">
                <a16:creationId xmlns:a16="http://schemas.microsoft.com/office/drawing/2014/main" id="{FB00BCCC-AA05-4652-6B4B-058F67AEEA2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C1ECD099-C050-01A7-BD25-E5088E4312F7}"/>
              </a:ext>
            </a:extLst>
          </p:cNvPr>
          <p:cNvPicPr>
            <a:picLocks noChangeAspect="1"/>
          </p:cNvPicPr>
          <p:nvPr/>
        </p:nvPicPr>
        <p:blipFill>
          <a:blip r:embed="rId2"/>
          <a:stretch>
            <a:fillRect/>
          </a:stretch>
        </p:blipFill>
        <p:spPr>
          <a:xfrm>
            <a:off x="2545930" y="4854222"/>
            <a:ext cx="2671704" cy="2003778"/>
          </a:xfrm>
          <a:prstGeom prst="rect">
            <a:avLst/>
          </a:prstGeom>
        </p:spPr>
      </p:pic>
      <p:graphicFrame>
        <p:nvGraphicFramePr>
          <p:cNvPr id="9" name="Table 8">
            <a:extLst>
              <a:ext uri="{FF2B5EF4-FFF2-40B4-BE49-F238E27FC236}">
                <a16:creationId xmlns:a16="http://schemas.microsoft.com/office/drawing/2014/main" id="{37059908-27AA-80AE-673A-E88E0DD5EBBB}"/>
              </a:ext>
            </a:extLst>
          </p:cNvPr>
          <p:cNvGraphicFramePr>
            <a:graphicFrameLocks noGrp="1"/>
          </p:cNvGraphicFramePr>
          <p:nvPr>
            <p:extLst>
              <p:ext uri="{D42A27DB-BD31-4B8C-83A1-F6EECF244321}">
                <p14:modId xmlns:p14="http://schemas.microsoft.com/office/powerpoint/2010/main" val="2699714698"/>
              </p:ext>
            </p:extLst>
          </p:nvPr>
        </p:nvGraphicFramePr>
        <p:xfrm>
          <a:off x="5943600" y="4763691"/>
          <a:ext cx="5040924" cy="1981200"/>
        </p:xfrm>
        <a:graphic>
          <a:graphicData uri="http://schemas.openxmlformats.org/drawingml/2006/table">
            <a:tbl>
              <a:tblPr/>
              <a:tblGrid>
                <a:gridCol w="2520462">
                  <a:extLst>
                    <a:ext uri="{9D8B030D-6E8A-4147-A177-3AD203B41FA5}">
                      <a16:colId xmlns:a16="http://schemas.microsoft.com/office/drawing/2014/main" val="4247546889"/>
                    </a:ext>
                  </a:extLst>
                </a:gridCol>
                <a:gridCol w="2520462">
                  <a:extLst>
                    <a:ext uri="{9D8B030D-6E8A-4147-A177-3AD203B41FA5}">
                      <a16:colId xmlns:a16="http://schemas.microsoft.com/office/drawing/2014/main" val="3687953848"/>
                    </a:ext>
                  </a:extLst>
                </a:gridCol>
              </a:tblGrid>
              <a:tr h="0">
                <a:tc>
                  <a:txBody>
                    <a:bodyPr/>
                    <a:lstStyle/>
                    <a:p>
                      <a:pPr rtl="0">
                        <a:buNone/>
                      </a:pPr>
                      <a:r>
                        <a:rPr lang="en-IN" b="1" dirty="0">
                          <a:solidFill>
                            <a:srgbClr val="1F1F1F"/>
                          </a:solidFill>
                          <a:effectLst/>
                          <a:latin typeface="Google Sans Text"/>
                        </a:rPr>
                        <a:t>Model</a:t>
                      </a:r>
                      <a:endParaRPr lang="en-IN"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RMSE</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88867910"/>
                  </a:ext>
                </a:extLst>
              </a:tr>
              <a:tr h="0">
                <a:tc>
                  <a:txBody>
                    <a:bodyPr/>
                    <a:lstStyle/>
                    <a:p>
                      <a:pPr rtl="0">
                        <a:buNone/>
                      </a:pPr>
                      <a:r>
                        <a:rPr lang="en-IN">
                          <a:solidFill>
                            <a:srgbClr val="1F1F1F"/>
                          </a:solidFill>
                          <a:effectLst/>
                          <a:latin typeface="Google Sans Text"/>
                        </a:rPr>
                        <a:t>KNN</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0.048</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77718705"/>
                  </a:ext>
                </a:extLst>
              </a:tr>
              <a:tr h="0">
                <a:tc>
                  <a:txBody>
                    <a:bodyPr/>
                    <a:lstStyle/>
                    <a:p>
                      <a:pPr rtl="0">
                        <a:buNone/>
                      </a:pPr>
                      <a:r>
                        <a:rPr lang="en-IN" dirty="0">
                          <a:solidFill>
                            <a:srgbClr val="1F1F1F"/>
                          </a:solidFill>
                          <a:effectLst/>
                          <a:latin typeface="Google Sans Text"/>
                        </a:rPr>
                        <a:t>NMF</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0.048</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66112834"/>
                  </a:ext>
                </a:extLst>
              </a:tr>
              <a:tr h="0">
                <a:tc>
                  <a:txBody>
                    <a:bodyPr/>
                    <a:lstStyle/>
                    <a:p>
                      <a:pPr rtl="0">
                        <a:buNone/>
                      </a:pPr>
                      <a:r>
                        <a:rPr lang="en-IN">
                          <a:solidFill>
                            <a:srgbClr val="1F1F1F"/>
                          </a:solidFill>
                          <a:effectLst/>
                          <a:latin typeface="Google Sans Text"/>
                        </a:rPr>
                        <a:t>ANN</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0.062</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05035399"/>
                  </a:ext>
                </a:extLst>
              </a:tr>
              <a:tr h="0">
                <a:tc>
                  <a:txBody>
                    <a:bodyPr/>
                    <a:lstStyle/>
                    <a:p>
                      <a:pPr rtl="0">
                        <a:buNone/>
                      </a:pPr>
                      <a:r>
                        <a:rPr lang="en-IN">
                          <a:solidFill>
                            <a:srgbClr val="1F1F1F"/>
                          </a:solidFill>
                          <a:effectLst/>
                          <a:latin typeface="Google Sans Text"/>
                        </a:rPr>
                        <a:t>Regression (Embeddings)</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dirty="0">
                          <a:solidFill>
                            <a:srgbClr val="1F1F1F"/>
                          </a:solidFill>
                          <a:effectLst/>
                          <a:latin typeface="Google Sans Text"/>
                        </a:rPr>
                        <a:t>0.062</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49182152"/>
                  </a:ext>
                </a:extLst>
              </a:tr>
            </a:tbl>
          </a:graphicData>
        </a:graphic>
      </p:graphicFrame>
    </p:spTree>
    <p:extLst>
      <p:ext uri="{BB962C8B-B14F-4D97-AF65-F5344CB8AC3E}">
        <p14:creationId xmlns:p14="http://schemas.microsoft.com/office/powerpoint/2010/main" val="4130130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F9A5-BC15-9C44-9AEA-93F5BAAA07AC}"/>
              </a:ext>
            </a:extLst>
          </p:cNvPr>
          <p:cNvSpPr>
            <a:spLocks noGrp="1"/>
          </p:cNvSpPr>
          <p:nvPr>
            <p:ph type="title"/>
          </p:nvPr>
        </p:nvSpPr>
        <p:spPr/>
        <p:txBody>
          <a:bodyPr/>
          <a:lstStyle/>
          <a:p>
            <a:r>
              <a:rPr lang="en-US" sz="4000" dirty="0">
                <a:solidFill>
                  <a:srgbClr val="0B49CB"/>
                </a:solidFill>
                <a:latin typeface="Abadi"/>
              </a:rPr>
              <a:t>Optional: Build a course recommender system app with Streamlit</a:t>
            </a:r>
          </a:p>
        </p:txBody>
      </p:sp>
      <p:sp>
        <p:nvSpPr>
          <p:cNvPr id="4" name="Content Placeholder 4">
            <a:extLst>
              <a:ext uri="{FF2B5EF4-FFF2-40B4-BE49-F238E27FC236}">
                <a16:creationId xmlns:a16="http://schemas.microsoft.com/office/drawing/2014/main" id="{F3C5989F-33DB-E341-8D2D-58919572AF85}"/>
              </a:ext>
            </a:extLst>
          </p:cNvPr>
          <p:cNvSpPr txBox="1">
            <a:spLocks/>
          </p:cNvSpPr>
          <p:nvPr/>
        </p:nvSpPr>
        <p:spPr>
          <a:xfrm>
            <a:off x="855663" y="1792289"/>
            <a:ext cx="4659613"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p:txBody>
      </p:sp>
      <p:sp>
        <p:nvSpPr>
          <p:cNvPr id="5" name="Content Placeholder 4">
            <a:extLst>
              <a:ext uri="{FF2B5EF4-FFF2-40B4-BE49-F238E27FC236}">
                <a16:creationId xmlns:a16="http://schemas.microsoft.com/office/drawing/2014/main" id="{1A009626-4E30-F64B-B251-6A848BDAB6FC}"/>
              </a:ext>
            </a:extLst>
          </p:cNvPr>
          <p:cNvSpPr txBox="1">
            <a:spLocks/>
          </p:cNvSpPr>
          <p:nvPr/>
        </p:nvSpPr>
        <p:spPr>
          <a:xfrm>
            <a:off x="6694187" y="1792289"/>
            <a:ext cx="4659613"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p:txBody>
      </p:sp>
      <p:sp>
        <p:nvSpPr>
          <p:cNvPr id="8" name="TextBox 7">
            <a:extLst>
              <a:ext uri="{FF2B5EF4-FFF2-40B4-BE49-F238E27FC236}">
                <a16:creationId xmlns:a16="http://schemas.microsoft.com/office/drawing/2014/main" id="{E5AAF09B-75CD-954A-B082-C62620ABA3F3}"/>
              </a:ext>
            </a:extLst>
          </p:cNvPr>
          <p:cNvSpPr txBox="1"/>
          <p:nvPr/>
        </p:nvSpPr>
        <p:spPr>
          <a:xfrm>
            <a:off x="855662" y="1792289"/>
            <a:ext cx="4659613" cy="400110"/>
          </a:xfrm>
          <a:prstGeom prst="rect">
            <a:avLst/>
          </a:prstGeom>
          <a:noFill/>
        </p:spPr>
        <p:txBody>
          <a:bodyPr wrap="square">
            <a:spAutoFit/>
          </a:bodyPr>
          <a:lstStyle/>
          <a:p>
            <a:pPr marL="0" indent="0">
              <a:buNone/>
            </a:pPr>
            <a:r>
              <a:rPr lang="en-US" sz="2000" dirty="0">
                <a:solidFill>
                  <a:srgbClr val="1C7DDB"/>
                </a:solidFill>
                <a:latin typeface="Abadi"/>
              </a:rPr>
              <a:t>Streamlit app screenshot1</a:t>
            </a:r>
          </a:p>
        </p:txBody>
      </p:sp>
      <p:sp>
        <p:nvSpPr>
          <p:cNvPr id="9" name="TextBox 8">
            <a:extLst>
              <a:ext uri="{FF2B5EF4-FFF2-40B4-BE49-F238E27FC236}">
                <a16:creationId xmlns:a16="http://schemas.microsoft.com/office/drawing/2014/main" id="{95157DD3-6050-F54C-AB8E-316EF062F98D}"/>
              </a:ext>
            </a:extLst>
          </p:cNvPr>
          <p:cNvSpPr txBox="1"/>
          <p:nvPr/>
        </p:nvSpPr>
        <p:spPr>
          <a:xfrm>
            <a:off x="6694187" y="1792289"/>
            <a:ext cx="4642150" cy="400110"/>
          </a:xfrm>
          <a:prstGeom prst="rect">
            <a:avLst/>
          </a:prstGeom>
          <a:noFill/>
        </p:spPr>
        <p:txBody>
          <a:bodyPr wrap="square">
            <a:spAutoFit/>
          </a:bodyPr>
          <a:lstStyle/>
          <a:p>
            <a:pPr marL="0" indent="0">
              <a:buNone/>
            </a:pPr>
            <a:r>
              <a:rPr lang="en-US" sz="2000" dirty="0">
                <a:solidFill>
                  <a:srgbClr val="1C7DDB"/>
                </a:solidFill>
                <a:latin typeface="Abadi"/>
              </a:rPr>
              <a:t>Streamlit app screenshot2</a:t>
            </a:r>
          </a:p>
        </p:txBody>
      </p:sp>
      <p:sp>
        <p:nvSpPr>
          <p:cNvPr id="10" name="Content Placeholder 4">
            <a:extLst>
              <a:ext uri="{FF2B5EF4-FFF2-40B4-BE49-F238E27FC236}">
                <a16:creationId xmlns:a16="http://schemas.microsoft.com/office/drawing/2014/main" id="{A5E5D172-C398-C444-9C12-5E48A3C2030B}"/>
              </a:ext>
            </a:extLst>
          </p:cNvPr>
          <p:cNvSpPr txBox="1">
            <a:spLocks/>
          </p:cNvSpPr>
          <p:nvPr/>
        </p:nvSpPr>
        <p:spPr>
          <a:xfrm>
            <a:off x="855663" y="6056427"/>
            <a:ext cx="10498137" cy="436448"/>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rPr>
              <a:t>A published Streamlit App URL for a live demo</a:t>
            </a:r>
          </a:p>
        </p:txBody>
      </p:sp>
    </p:spTree>
    <p:extLst>
      <p:ext uri="{BB962C8B-B14F-4D97-AF65-F5344CB8AC3E}">
        <p14:creationId xmlns:p14="http://schemas.microsoft.com/office/powerpoint/2010/main" val="25707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008191"/>
            <a:ext cx="10687961" cy="5419020"/>
          </a:xfrm>
          <a:prstGeom prst="rect">
            <a:avLst/>
          </a:prstGeom>
        </p:spPr>
        <p:txBody>
          <a:bodyPr>
            <a:normAutofit fontScale="77500" lnSpcReduction="20000"/>
          </a:bodyPr>
          <a:lstStyle/>
          <a:p>
            <a:pPr marL="0" indent="0">
              <a:buNone/>
            </a:pPr>
            <a:r>
              <a:rPr lang="en-GB" sz="2000" b="1" dirty="0"/>
              <a:t>Summary of Achievement</a:t>
            </a:r>
          </a:p>
          <a:p>
            <a:r>
              <a:rPr lang="en-GB" sz="2000" dirty="0"/>
              <a:t>The project successfully designed and executed a multi-faceted recommendation engine capable of personalizing educational paths for a rapidly growing MOOC startup. By leveraging various machine learning paradigms, the system moves beyond simple "top-rated" lists to provide nuanced, data-driven suggestions.</a:t>
            </a:r>
          </a:p>
          <a:p>
            <a:pPr marL="0" indent="0">
              <a:buNone/>
            </a:pPr>
            <a:r>
              <a:rPr lang="en-IN" sz="2000" b="1" dirty="0"/>
              <a:t>Key Technical Outcomes</a:t>
            </a:r>
          </a:p>
          <a:p>
            <a:r>
              <a:rPr lang="en-IN" sz="2000" b="1" dirty="0"/>
              <a:t>Multi-Model Versatility</a:t>
            </a:r>
            <a:r>
              <a:rPr lang="en-IN" sz="2000" dirty="0"/>
              <a:t>: The system architecture incorporates diverse strategies, including content-based filtering via user profiles and course similarity, clustering-based grouping, and advanced collaborative filtering using KNN, NMF, and Neural Network Embeddings.</a:t>
            </a:r>
          </a:p>
          <a:p>
            <a:r>
              <a:rPr lang="en-GB" sz="2000" b="1" dirty="0"/>
              <a:t>Effective Dimensionality Reduction</a:t>
            </a:r>
            <a:r>
              <a:rPr lang="en-GB" sz="2000" dirty="0"/>
              <a:t>: Using </a:t>
            </a:r>
            <a:r>
              <a:rPr lang="en-GB" sz="2000" b="1" dirty="0"/>
              <a:t>Principal Component Analysis (PCA)</a:t>
            </a:r>
            <a:r>
              <a:rPr lang="en-GB" sz="2000" dirty="0"/>
              <a:t>, the project reduced high-dimensional genre data into </a:t>
            </a:r>
            <a:r>
              <a:rPr lang="en-GB" sz="2000" b="1" dirty="0"/>
              <a:t>9 essential components</a:t>
            </a:r>
            <a:r>
              <a:rPr lang="en-GB" sz="2000" dirty="0"/>
              <a:t> while retaining </a:t>
            </a:r>
            <a:r>
              <a:rPr lang="en-GB" sz="2000" b="1" dirty="0"/>
              <a:t>90% of the data variance</a:t>
            </a:r>
            <a:r>
              <a:rPr lang="en-GB" sz="2000" dirty="0"/>
              <a:t>. This streamlined the clustering process, allowing for more efficient grouping of users with similar interests.</a:t>
            </a:r>
          </a:p>
          <a:p>
            <a:r>
              <a:rPr lang="en-GB" sz="2000" b="1" dirty="0"/>
              <a:t>Optimized Predictive Accuracy</a:t>
            </a:r>
            <a:r>
              <a:rPr lang="en-GB" sz="2000" dirty="0"/>
              <a:t>: Collaborative filtering models significantly outperformed baseline metrics. Specifically, </a:t>
            </a:r>
            <a:r>
              <a:rPr lang="en-GB" sz="2000" b="1" dirty="0"/>
              <a:t>KNN (User-based)</a:t>
            </a:r>
            <a:r>
              <a:rPr lang="en-GB" sz="2000" dirty="0"/>
              <a:t> achieved the lowest error rate with an </a:t>
            </a:r>
            <a:r>
              <a:rPr lang="en-GB" sz="2000" b="1" dirty="0"/>
              <a:t>RMSE of 0.048</a:t>
            </a:r>
            <a:r>
              <a:rPr lang="en-GB" sz="2000" dirty="0"/>
              <a:t>, closely followed by the NMF and SVD models.</a:t>
            </a:r>
          </a:p>
          <a:p>
            <a:r>
              <a:rPr lang="en-GB" sz="2000" b="1" dirty="0"/>
              <a:t>Neural Network Integration</a:t>
            </a:r>
            <a:r>
              <a:rPr lang="en-GB" sz="2000" dirty="0"/>
              <a:t>: Through the </a:t>
            </a:r>
            <a:r>
              <a:rPr lang="en-GB" sz="2000" b="1" dirty="0" err="1"/>
              <a:t>RecommenderNet</a:t>
            </a:r>
            <a:r>
              <a:rPr lang="en-GB" sz="2000" dirty="0"/>
              <a:t> class, the project successfully mapped 33,901 users and 126 items into meaningful </a:t>
            </a:r>
            <a:r>
              <a:rPr lang="en-GB" sz="2000" b="1" dirty="0"/>
              <a:t>16-dimensional latent feature vectors</a:t>
            </a:r>
            <a:r>
              <a:rPr lang="en-GB" sz="2000" dirty="0"/>
              <a:t>, demonstrating the power of deep learning for embedding-based discovery</a:t>
            </a:r>
          </a:p>
          <a:p>
            <a:pPr marL="0" indent="0">
              <a:buNone/>
            </a:pPr>
            <a:r>
              <a:rPr lang="en-GB" sz="2000" b="1" dirty="0"/>
              <a:t>Actionable Business Insights</a:t>
            </a:r>
          </a:p>
          <a:p>
            <a:r>
              <a:rPr lang="en-GB" sz="2000" b="1" dirty="0"/>
              <a:t>Precision Filtering</a:t>
            </a:r>
            <a:r>
              <a:rPr lang="en-GB" sz="2000" dirty="0"/>
              <a:t>: By enforcing strict thresholds—such as a </a:t>
            </a:r>
            <a:r>
              <a:rPr lang="en-GB" sz="2000" b="1" dirty="0"/>
              <a:t>similarity score of 0.6</a:t>
            </a:r>
            <a:r>
              <a:rPr lang="en-GB" sz="2000" dirty="0"/>
              <a:t> or a </a:t>
            </a:r>
            <a:r>
              <a:rPr lang="en-GB" sz="2000" b="1" dirty="0"/>
              <a:t>recommendation score of 10.0</a:t>
            </a:r>
            <a:r>
              <a:rPr lang="en-GB" sz="2000" dirty="0"/>
              <a:t>—the system ensures high-quality suggestions</a:t>
            </a:r>
          </a:p>
          <a:p>
            <a:r>
              <a:rPr lang="en-GB" sz="2000" b="1" dirty="0"/>
              <a:t>Personalization at Scale</a:t>
            </a:r>
            <a:r>
              <a:rPr lang="en-GB" sz="2000" dirty="0"/>
              <a:t>: The system successfully delivers between </a:t>
            </a:r>
            <a:r>
              <a:rPr lang="en-GB" sz="2000" b="1" dirty="0"/>
              <a:t>19 and 44 relevant new course suggestions</a:t>
            </a:r>
            <a:r>
              <a:rPr lang="en-GB" sz="2000" dirty="0"/>
              <a:t> per user on average, effectively addressing the "one-and-done" user gap identified in the exploratory data analysis</a:t>
            </a:r>
          </a:p>
          <a:p>
            <a:r>
              <a:rPr lang="en-GB" sz="2000" b="1" dirty="0"/>
              <a:t>Foundational Focus</a:t>
            </a:r>
            <a:r>
              <a:rPr lang="en-GB" sz="2000" dirty="0"/>
              <a:t>: Data analysis revealed that </a:t>
            </a:r>
            <a:r>
              <a:rPr lang="en-GB" sz="2000" b="1" dirty="0"/>
              <a:t>Python</a:t>
            </a:r>
            <a:r>
              <a:rPr lang="en-GB" sz="2000" dirty="0"/>
              <a:t> and </a:t>
            </a:r>
            <a:r>
              <a:rPr lang="en-GB" sz="2000" b="1" dirty="0"/>
              <a:t>Introduction to Data Science</a:t>
            </a:r>
            <a:r>
              <a:rPr lang="en-GB" sz="2000" dirty="0"/>
              <a:t> remain the primary gateways for users, informing the strategy to prioritize these as "anchor" recommendations for new learners</a:t>
            </a:r>
          </a:p>
          <a:p>
            <a:endParaRPr lang="en-IN" sz="2000" dirty="0"/>
          </a:p>
          <a:p>
            <a:pPr marL="0" indent="0">
              <a:buNone/>
            </a:pPr>
            <a:endParaRPr lang="en-GB" sz="2000" dirty="0"/>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2400" dirty="0">
                <a:solidFill>
                  <a:srgbClr val="0B49CB"/>
                </a:solidFill>
                <a:latin typeface="Abadi"/>
              </a:rPr>
              <a:t>Conclusions</a:t>
            </a:r>
            <a:endParaRPr lang="en-US" sz="2400" dirty="0">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59522"/>
            <a:ext cx="10515600" cy="4351338"/>
          </a:xfrm>
          <a:prstGeom prst="rect">
            <a:avLst/>
          </a:prstGeom>
        </p:spPr>
        <p:txBody>
          <a:bodyPr>
            <a:normAutofit/>
          </a:bodyPr>
          <a:lstStyle/>
          <a:p>
            <a:pPr>
              <a:lnSpc>
                <a:spcPct val="100000"/>
              </a:lnSpc>
              <a:spcBef>
                <a:spcPts val="1400"/>
              </a:spcBef>
            </a:pPr>
            <a:r>
              <a:rPr lang="en-US" sz="2000" dirty="0" err="1">
                <a:solidFill>
                  <a:schemeClr val="accent3">
                    <a:lumMod val="25000"/>
                  </a:schemeClr>
                </a:solidFill>
                <a:latin typeface="Abadi" panose="020B0604020104020204" pitchFamily="34" charset="0"/>
              </a:rPr>
              <a:t>Github</a:t>
            </a:r>
            <a:r>
              <a:rPr lang="en-US" sz="2000" dirty="0">
                <a:solidFill>
                  <a:schemeClr val="accent3">
                    <a:lumMod val="25000"/>
                  </a:schemeClr>
                </a:solidFill>
                <a:latin typeface="Abadi" panose="020B0604020104020204" pitchFamily="34" charset="0"/>
              </a:rPr>
              <a:t> : Removed due to error </a:t>
            </a: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Tree>
    <p:extLst>
      <p:ext uri="{BB962C8B-B14F-4D97-AF65-F5344CB8AC3E}">
        <p14:creationId xmlns:p14="http://schemas.microsoft.com/office/powerpoint/2010/main" val="341000852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DA07C5-A406-4A0D-B3E6-3856C94AC7F3}">
  <ds:schemaRefs>
    <ds:schemaRef ds:uri="http://www.w3.org/XML/1998/namespace"/>
    <ds:schemaRef ds:uri="http://schemas.microsoft.com/office/infopath/2007/PartnerControls"/>
    <ds:schemaRef ds:uri="http://schemas.openxmlformats.org/package/2006/metadata/core-properties"/>
    <ds:schemaRef ds:uri="http://purl.org/dc/dcmitype/"/>
    <ds:schemaRef ds:uri="http://purl.org/dc/terms/"/>
    <ds:schemaRef ds:uri="http://schemas.microsoft.com/office/2006/documentManagement/types"/>
    <ds:schemaRef ds:uri="http://purl.org/dc/elements/1.1/"/>
    <ds:schemaRef ds:uri="f80a141d-92ca-4d3d-9308-f7e7b1d44ce8"/>
    <ds:schemaRef ds:uri="155be751-a274-42e8-93fb-f39d3b9bccc8"/>
    <ds:schemaRef ds:uri="http://schemas.microsoft.com/office/2006/metadata/properties"/>
  </ds:schemaRefs>
</ds:datastoreItem>
</file>

<file path=customXml/itemProps2.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2801</TotalTime>
  <Words>4196</Words>
  <Application>Microsoft Office PowerPoint</Application>
  <PresentationFormat>Widescreen</PresentationFormat>
  <Paragraphs>490</Paragraphs>
  <Slides>23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Abadi</vt:lpstr>
      <vt:lpstr>Arial</vt:lpstr>
      <vt:lpstr>Calibri</vt:lpstr>
      <vt:lpstr>Courier New</vt:lpstr>
      <vt:lpstr>Google Sans Text</vt:lpstr>
      <vt:lpstr>Custom Design</vt:lpstr>
      <vt:lpstr>PowerPoint Presentation</vt:lpstr>
      <vt:lpstr>PowerPoint Presentation</vt:lpstr>
      <vt:lpstr>PowerPoint Presentation</vt:lpstr>
      <vt:lpstr>Exploratory Data Analysis</vt:lpstr>
      <vt:lpstr>Course counts per genre</vt:lpstr>
      <vt:lpstr>Course enrollment distribution</vt:lpstr>
      <vt:lpstr>20 most popular courses</vt:lpstr>
      <vt:lpstr>Word cloud of course titles</vt:lpstr>
      <vt:lpstr>Content-based Recommender System using Unsupervised Learning</vt:lpstr>
      <vt:lpstr>Flowchart of content-based recommender system using user profile and course genres</vt:lpstr>
      <vt:lpstr>Evaluation results of the user profile-based recommender system</vt:lpstr>
      <vt:lpstr>Flowchart of content-based recommender system using course similarity</vt:lpstr>
      <vt:lpstr>Evaluation results of course similarity based recommender system</vt:lpstr>
      <vt:lpstr>Flowchart of clustering-based recommender system</vt:lpstr>
      <vt:lpstr>Evaluation results of clustering-based recommender system</vt:lpstr>
      <vt:lpstr>Collaborative-filtering Recommender System using Supervised Learning</vt:lpstr>
      <vt:lpstr>Flowchart of KNN based recommender system</vt:lpstr>
      <vt:lpstr>Flowchart of NMF based recommender system</vt:lpstr>
      <vt:lpstr>Flowchart of Neural Network Embedding based recommender system</vt:lpstr>
      <vt:lpstr>Compare the performance of collaborative-filtering models</vt:lpstr>
      <vt:lpstr>Optional: Build a course recommender system app with Streamlit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John Sylvester</cp:lastModifiedBy>
  <cp:revision>493</cp:revision>
  <dcterms:created xsi:type="dcterms:W3CDTF">2021-04-29T18:58:34Z</dcterms:created>
  <dcterms:modified xsi:type="dcterms:W3CDTF">2026-01-20T14:10:15Z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